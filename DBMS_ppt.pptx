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944" r:id="rId1"/>
  </p:sldMasterIdLst>
  <p:notesMasterIdLst>
    <p:notesMasterId r:id="rId27"/>
  </p:notes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73" r:id="rId9"/>
    <p:sldId id="267" r:id="rId10"/>
    <p:sldId id="272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68" r:id="rId25"/>
    <p:sldId id="26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7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asini22k@gmail.com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5033" autoAdjust="0"/>
  </p:normalViewPr>
  <p:slideViewPr>
    <p:cSldViewPr snapToGrid="0">
      <p:cViewPr varScale="1">
        <p:scale>
          <a:sx n="89" d="100"/>
          <a:sy n="89" d="100"/>
        </p:scale>
        <p:origin x="619" y="72"/>
      </p:cViewPr>
      <p:guideLst>
        <p:guide orient="horz" pos="2160"/>
        <p:guide pos="38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7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DE9CC0-E342-4552-800E-A35300C7696A}" type="doc">
      <dgm:prSet loTypeId="urn:microsoft.com/office/officeart/2018/2/layout/IconVerticalSolidList" loCatId="icon" qsTypeId="urn:microsoft.com/office/officeart/2005/8/quickstyle/simple1#1" qsCatId="simple" csTypeId="urn:microsoft.com/office/officeart/2005/8/colors/accent2_2#1" csCatId="accent2" phldr="1"/>
      <dgm:spPr/>
      <dgm:t>
        <a:bodyPr/>
        <a:lstStyle/>
        <a:p>
          <a:endParaRPr lang="en-US"/>
        </a:p>
      </dgm:t>
    </dgm:pt>
    <dgm:pt modelId="{43A886AB-32B6-4506-A9E0-ABB19AEA1DF6}">
      <dgm:prSet/>
      <dgm:spPr/>
      <dgm:t>
        <a:bodyPr/>
        <a:lstStyle/>
        <a:p>
          <a:r>
            <a:rPr lang="en-US" b="0" i="0"/>
            <a:t>Courier companies handle a large number of parcels and customer records every day.</a:t>
          </a:r>
          <a:endParaRPr lang="en-US"/>
        </a:p>
      </dgm:t>
    </dgm:pt>
    <dgm:pt modelId="{7C19EF17-4D85-4E54-913E-32379E7C92F3}" type="parTrans" cxnId="{FB7C3E57-4EAD-47F2-89C5-5ED798E35C98}">
      <dgm:prSet/>
      <dgm:spPr/>
      <dgm:t>
        <a:bodyPr/>
        <a:lstStyle/>
        <a:p>
          <a:endParaRPr lang="en-US"/>
        </a:p>
      </dgm:t>
    </dgm:pt>
    <dgm:pt modelId="{47F44EDD-A115-4D2A-B160-F417A88520C9}" type="sibTrans" cxnId="{FB7C3E57-4EAD-47F2-89C5-5ED798E35C98}">
      <dgm:prSet/>
      <dgm:spPr/>
      <dgm:t>
        <a:bodyPr/>
        <a:lstStyle/>
        <a:p>
          <a:endParaRPr lang="en-US"/>
        </a:p>
      </dgm:t>
    </dgm:pt>
    <dgm:pt modelId="{5800E916-AD65-4BE1-ADAA-2C659F681B2C}">
      <dgm:prSet/>
      <dgm:spPr/>
      <dgm:t>
        <a:bodyPr/>
        <a:lstStyle/>
        <a:p>
          <a:r>
            <a:rPr lang="en-US" b="0" i="0"/>
            <a:t>Manual or separate record keeping is time-consuming and can lead to errors and duplicate data.</a:t>
          </a:r>
          <a:endParaRPr lang="en-US"/>
        </a:p>
      </dgm:t>
    </dgm:pt>
    <dgm:pt modelId="{7D470FC9-EB67-443F-A474-FD33C677F9D1}" type="parTrans" cxnId="{1149B7F9-6A11-4CB7-9727-75B1DDA6362B}">
      <dgm:prSet/>
      <dgm:spPr/>
      <dgm:t>
        <a:bodyPr/>
        <a:lstStyle/>
        <a:p>
          <a:endParaRPr lang="en-US"/>
        </a:p>
      </dgm:t>
    </dgm:pt>
    <dgm:pt modelId="{1FD2E7AA-2B80-4025-A97E-41B91753F461}" type="sibTrans" cxnId="{1149B7F9-6A11-4CB7-9727-75B1DDA6362B}">
      <dgm:prSet/>
      <dgm:spPr/>
      <dgm:t>
        <a:bodyPr/>
        <a:lstStyle/>
        <a:p>
          <a:endParaRPr lang="en-US"/>
        </a:p>
      </dgm:t>
    </dgm:pt>
    <dgm:pt modelId="{853DEE6E-C07B-4E0B-96B5-A84BB0DDF92E}">
      <dgm:prSet/>
      <dgm:spPr/>
      <dgm:t>
        <a:bodyPr/>
        <a:lstStyle/>
        <a:p>
          <a:r>
            <a:rPr lang="en-US" b="0" i="0"/>
            <a:t>Customer, booking, delivery, tracking and payment information needs to be organized in one place.</a:t>
          </a:r>
          <a:endParaRPr lang="en-US"/>
        </a:p>
      </dgm:t>
    </dgm:pt>
    <dgm:pt modelId="{FD2A4D9E-A6DA-480D-AB37-879676371A45}" type="parTrans" cxnId="{4ACC1280-8AD6-40AA-B9EA-1FD14F5A749D}">
      <dgm:prSet/>
      <dgm:spPr/>
      <dgm:t>
        <a:bodyPr/>
        <a:lstStyle/>
        <a:p>
          <a:endParaRPr lang="en-US"/>
        </a:p>
      </dgm:t>
    </dgm:pt>
    <dgm:pt modelId="{35BA54D5-05E1-4F2A-8811-04ED29E20BE7}" type="sibTrans" cxnId="{4ACC1280-8AD6-40AA-B9EA-1FD14F5A749D}">
      <dgm:prSet/>
      <dgm:spPr/>
      <dgm:t>
        <a:bodyPr/>
        <a:lstStyle/>
        <a:p>
          <a:endParaRPr lang="en-US"/>
        </a:p>
      </dgm:t>
    </dgm:pt>
    <dgm:pt modelId="{59B9460A-CF6C-4107-8965-9F70CF318221}">
      <dgm:prSet/>
      <dgm:spPr/>
      <dgm:t>
        <a:bodyPr/>
        <a:lstStyle/>
        <a:p>
          <a:r>
            <a:rPr lang="en-US" b="0" i="0"/>
            <a:t>Our system uses a centralized DBMS to store, retrieve and update courier information efficiently.</a:t>
          </a:r>
          <a:endParaRPr lang="en-US"/>
        </a:p>
      </dgm:t>
    </dgm:pt>
    <dgm:pt modelId="{4301F150-D13A-449F-8F07-B40F5921A8C4}" type="parTrans" cxnId="{AA2F4F23-B1BF-458D-A29A-0357F16DE776}">
      <dgm:prSet/>
      <dgm:spPr/>
      <dgm:t>
        <a:bodyPr/>
        <a:lstStyle/>
        <a:p>
          <a:endParaRPr lang="en-US"/>
        </a:p>
      </dgm:t>
    </dgm:pt>
    <dgm:pt modelId="{D9433CF6-B216-46E5-AB31-5BCE60E26D67}" type="sibTrans" cxnId="{AA2F4F23-B1BF-458D-A29A-0357F16DE776}">
      <dgm:prSet/>
      <dgm:spPr/>
      <dgm:t>
        <a:bodyPr/>
        <a:lstStyle/>
        <a:p>
          <a:endParaRPr lang="en-US"/>
        </a:p>
      </dgm:t>
    </dgm:pt>
    <dgm:pt modelId="{0CFA91EC-6485-433B-9796-058544E335FB}" type="pres">
      <dgm:prSet presAssocID="{4EDE9CC0-E342-4552-800E-A35300C7696A}" presName="root" presStyleCnt="0">
        <dgm:presLayoutVars>
          <dgm:dir/>
          <dgm:resizeHandles val="exact"/>
        </dgm:presLayoutVars>
      </dgm:prSet>
      <dgm:spPr/>
    </dgm:pt>
    <dgm:pt modelId="{6C9883B1-0EE5-477B-AE2F-B6D8F59A1615}" type="pres">
      <dgm:prSet presAssocID="{43A886AB-32B6-4506-A9E0-ABB19AEA1DF6}" presName="compNode" presStyleCnt="0"/>
      <dgm:spPr/>
    </dgm:pt>
    <dgm:pt modelId="{A15AA8D5-1A72-4A21-A690-B04B700881DB}" type="pres">
      <dgm:prSet presAssocID="{43A886AB-32B6-4506-A9E0-ABB19AEA1DF6}" presName="bgRect" presStyleLbl="bgShp" presStyleIdx="0" presStyleCnt="4"/>
      <dgm:spPr/>
    </dgm:pt>
    <dgm:pt modelId="{1A63AF36-3227-4A43-862A-F24C2337D211}" type="pres">
      <dgm:prSet presAssocID="{43A886AB-32B6-4506-A9E0-ABB19AEA1DF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34E3ED34-F0B7-4204-9CD4-780AA78A060A}" type="pres">
      <dgm:prSet presAssocID="{43A886AB-32B6-4506-A9E0-ABB19AEA1DF6}" presName="spaceRect" presStyleCnt="0"/>
      <dgm:spPr/>
    </dgm:pt>
    <dgm:pt modelId="{C5DF182E-7757-4D0E-81AD-97FB12D880AD}" type="pres">
      <dgm:prSet presAssocID="{43A886AB-32B6-4506-A9E0-ABB19AEA1DF6}" presName="parTx" presStyleLbl="revTx" presStyleIdx="0" presStyleCnt="4">
        <dgm:presLayoutVars>
          <dgm:chMax val="0"/>
          <dgm:chPref val="0"/>
        </dgm:presLayoutVars>
      </dgm:prSet>
      <dgm:spPr/>
    </dgm:pt>
    <dgm:pt modelId="{D579CB07-854C-4C86-869F-0CD04C0D7AA7}" type="pres">
      <dgm:prSet presAssocID="{47F44EDD-A115-4D2A-B160-F417A88520C9}" presName="sibTrans" presStyleCnt="0"/>
      <dgm:spPr/>
    </dgm:pt>
    <dgm:pt modelId="{24A0D8B6-0D4D-481D-AFD7-557AE0FBD979}" type="pres">
      <dgm:prSet presAssocID="{5800E916-AD65-4BE1-ADAA-2C659F681B2C}" presName="compNode" presStyleCnt="0"/>
      <dgm:spPr/>
    </dgm:pt>
    <dgm:pt modelId="{040516D1-6603-4B7A-8A41-0D2042EFEB05}" type="pres">
      <dgm:prSet presAssocID="{5800E916-AD65-4BE1-ADAA-2C659F681B2C}" presName="bgRect" presStyleLbl="bgShp" presStyleIdx="1" presStyleCnt="4"/>
      <dgm:spPr/>
    </dgm:pt>
    <dgm:pt modelId="{A40B690C-EA0A-4E84-A588-ACFE162D3AFE}" type="pres">
      <dgm:prSet presAssocID="{5800E916-AD65-4BE1-ADAA-2C659F681B2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388CD26A-E523-4C03-BE47-5E2D95894799}" type="pres">
      <dgm:prSet presAssocID="{5800E916-AD65-4BE1-ADAA-2C659F681B2C}" presName="spaceRect" presStyleCnt="0"/>
      <dgm:spPr/>
    </dgm:pt>
    <dgm:pt modelId="{398CBEBE-8984-48DC-BDD3-1CCA56B5C7F2}" type="pres">
      <dgm:prSet presAssocID="{5800E916-AD65-4BE1-ADAA-2C659F681B2C}" presName="parTx" presStyleLbl="revTx" presStyleIdx="1" presStyleCnt="4">
        <dgm:presLayoutVars>
          <dgm:chMax val="0"/>
          <dgm:chPref val="0"/>
        </dgm:presLayoutVars>
      </dgm:prSet>
      <dgm:spPr/>
    </dgm:pt>
    <dgm:pt modelId="{3E7B9DD9-CED5-48B2-B35B-4F1A42E95480}" type="pres">
      <dgm:prSet presAssocID="{1FD2E7AA-2B80-4025-A97E-41B91753F461}" presName="sibTrans" presStyleCnt="0"/>
      <dgm:spPr/>
    </dgm:pt>
    <dgm:pt modelId="{FF42917D-963D-4AAB-A8C0-FEFC5AB8A7B4}" type="pres">
      <dgm:prSet presAssocID="{853DEE6E-C07B-4E0B-96B5-A84BB0DDF92E}" presName="compNode" presStyleCnt="0"/>
      <dgm:spPr/>
    </dgm:pt>
    <dgm:pt modelId="{714990FF-5B0B-46AC-AC53-7CA851D6E10A}" type="pres">
      <dgm:prSet presAssocID="{853DEE6E-C07B-4E0B-96B5-A84BB0DDF92E}" presName="bgRect" presStyleLbl="bgShp" presStyleIdx="2" presStyleCnt="4"/>
      <dgm:spPr/>
    </dgm:pt>
    <dgm:pt modelId="{6A1A91DC-A74C-48D0-89FB-BC2659FBF984}" type="pres">
      <dgm:prSet presAssocID="{853DEE6E-C07B-4E0B-96B5-A84BB0DDF92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76CC0920-082D-468B-96A2-8C47D54BC6C8}" type="pres">
      <dgm:prSet presAssocID="{853DEE6E-C07B-4E0B-96B5-A84BB0DDF92E}" presName="spaceRect" presStyleCnt="0"/>
      <dgm:spPr/>
    </dgm:pt>
    <dgm:pt modelId="{2DFE19FA-60F5-4997-8616-A27FC24C651B}" type="pres">
      <dgm:prSet presAssocID="{853DEE6E-C07B-4E0B-96B5-A84BB0DDF92E}" presName="parTx" presStyleLbl="revTx" presStyleIdx="2" presStyleCnt="4">
        <dgm:presLayoutVars>
          <dgm:chMax val="0"/>
          <dgm:chPref val="0"/>
        </dgm:presLayoutVars>
      </dgm:prSet>
      <dgm:spPr/>
    </dgm:pt>
    <dgm:pt modelId="{2E9B4EA0-27D4-4E28-94B3-78B32E97DB63}" type="pres">
      <dgm:prSet presAssocID="{35BA54D5-05E1-4F2A-8811-04ED29E20BE7}" presName="sibTrans" presStyleCnt="0"/>
      <dgm:spPr/>
    </dgm:pt>
    <dgm:pt modelId="{9010E82B-13F4-42ED-9065-6FF2FA8781AF}" type="pres">
      <dgm:prSet presAssocID="{59B9460A-CF6C-4107-8965-9F70CF318221}" presName="compNode" presStyleCnt="0"/>
      <dgm:spPr/>
    </dgm:pt>
    <dgm:pt modelId="{1CEE47A5-D148-439E-A25B-73ABB3C2AD85}" type="pres">
      <dgm:prSet presAssocID="{59B9460A-CF6C-4107-8965-9F70CF318221}" presName="bgRect" presStyleLbl="bgShp" presStyleIdx="3" presStyleCnt="4"/>
      <dgm:spPr/>
    </dgm:pt>
    <dgm:pt modelId="{0DE8ACD3-F91C-4DE7-8794-CAF47DF1C460}" type="pres">
      <dgm:prSet presAssocID="{59B9460A-CF6C-4107-8965-9F70CF31822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D89F3CA2-17E6-44D5-B7D6-68CC35E7EDB5}" type="pres">
      <dgm:prSet presAssocID="{59B9460A-CF6C-4107-8965-9F70CF318221}" presName="spaceRect" presStyleCnt="0"/>
      <dgm:spPr/>
    </dgm:pt>
    <dgm:pt modelId="{68A13F3A-C017-4B02-9329-B2D0C413C407}" type="pres">
      <dgm:prSet presAssocID="{59B9460A-CF6C-4107-8965-9F70CF31822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A2F4F23-B1BF-458D-A29A-0357F16DE776}" srcId="{4EDE9CC0-E342-4552-800E-A35300C7696A}" destId="{59B9460A-CF6C-4107-8965-9F70CF318221}" srcOrd="3" destOrd="0" parTransId="{4301F150-D13A-449F-8F07-B40F5921A8C4}" sibTransId="{D9433CF6-B216-46E5-AB31-5BCE60E26D67}"/>
    <dgm:cxn modelId="{FB7C3E57-4EAD-47F2-89C5-5ED798E35C98}" srcId="{4EDE9CC0-E342-4552-800E-A35300C7696A}" destId="{43A886AB-32B6-4506-A9E0-ABB19AEA1DF6}" srcOrd="0" destOrd="0" parTransId="{7C19EF17-4D85-4E54-913E-32379E7C92F3}" sibTransId="{47F44EDD-A115-4D2A-B160-F417A88520C9}"/>
    <dgm:cxn modelId="{4ACC1280-8AD6-40AA-B9EA-1FD14F5A749D}" srcId="{4EDE9CC0-E342-4552-800E-A35300C7696A}" destId="{853DEE6E-C07B-4E0B-96B5-A84BB0DDF92E}" srcOrd="2" destOrd="0" parTransId="{FD2A4D9E-A6DA-480D-AB37-879676371A45}" sibTransId="{35BA54D5-05E1-4F2A-8811-04ED29E20BE7}"/>
    <dgm:cxn modelId="{AA5EA7B7-0074-4B5F-8A2D-2BA246695673}" type="presOf" srcId="{4EDE9CC0-E342-4552-800E-A35300C7696A}" destId="{0CFA91EC-6485-433B-9796-058544E335FB}" srcOrd="0" destOrd="0" presId="urn:microsoft.com/office/officeart/2018/2/layout/IconVerticalSolidList"/>
    <dgm:cxn modelId="{FB4E7FC4-891E-42C5-A43E-8851AD21E7FB}" type="presOf" srcId="{853DEE6E-C07B-4E0B-96B5-A84BB0DDF92E}" destId="{2DFE19FA-60F5-4997-8616-A27FC24C651B}" srcOrd="0" destOrd="0" presId="urn:microsoft.com/office/officeart/2018/2/layout/IconVerticalSolidList"/>
    <dgm:cxn modelId="{E2142DC9-C070-4BDB-B222-99E2ABD4C3CF}" type="presOf" srcId="{59B9460A-CF6C-4107-8965-9F70CF318221}" destId="{68A13F3A-C017-4B02-9329-B2D0C413C407}" srcOrd="0" destOrd="0" presId="urn:microsoft.com/office/officeart/2018/2/layout/IconVerticalSolidList"/>
    <dgm:cxn modelId="{0BF39EF1-D25F-4650-8E74-9E8ED2456992}" type="presOf" srcId="{43A886AB-32B6-4506-A9E0-ABB19AEA1DF6}" destId="{C5DF182E-7757-4D0E-81AD-97FB12D880AD}" srcOrd="0" destOrd="0" presId="urn:microsoft.com/office/officeart/2018/2/layout/IconVerticalSolidList"/>
    <dgm:cxn modelId="{1149B7F9-6A11-4CB7-9727-75B1DDA6362B}" srcId="{4EDE9CC0-E342-4552-800E-A35300C7696A}" destId="{5800E916-AD65-4BE1-ADAA-2C659F681B2C}" srcOrd="1" destOrd="0" parTransId="{7D470FC9-EB67-443F-A474-FD33C677F9D1}" sibTransId="{1FD2E7AA-2B80-4025-A97E-41B91753F461}"/>
    <dgm:cxn modelId="{3A6B80FD-4F35-4EEA-96AD-15FA2E9B5720}" type="presOf" srcId="{5800E916-AD65-4BE1-ADAA-2C659F681B2C}" destId="{398CBEBE-8984-48DC-BDD3-1CCA56B5C7F2}" srcOrd="0" destOrd="0" presId="urn:microsoft.com/office/officeart/2018/2/layout/IconVerticalSolidList"/>
    <dgm:cxn modelId="{87758849-C036-4242-AE7B-F733B7E2C391}" type="presParOf" srcId="{0CFA91EC-6485-433B-9796-058544E335FB}" destId="{6C9883B1-0EE5-477B-AE2F-B6D8F59A1615}" srcOrd="0" destOrd="0" presId="urn:microsoft.com/office/officeart/2018/2/layout/IconVerticalSolidList"/>
    <dgm:cxn modelId="{CEBE645B-FAF4-488D-95B3-35FD565C1D40}" type="presParOf" srcId="{6C9883B1-0EE5-477B-AE2F-B6D8F59A1615}" destId="{A15AA8D5-1A72-4A21-A690-B04B700881DB}" srcOrd="0" destOrd="0" presId="urn:microsoft.com/office/officeart/2018/2/layout/IconVerticalSolidList"/>
    <dgm:cxn modelId="{D2BBC4F2-5FE4-40A4-BFA4-C6EAFD68440D}" type="presParOf" srcId="{6C9883B1-0EE5-477B-AE2F-B6D8F59A1615}" destId="{1A63AF36-3227-4A43-862A-F24C2337D211}" srcOrd="1" destOrd="0" presId="urn:microsoft.com/office/officeart/2018/2/layout/IconVerticalSolidList"/>
    <dgm:cxn modelId="{52C33912-9B81-4937-AEC5-2591D05D8125}" type="presParOf" srcId="{6C9883B1-0EE5-477B-AE2F-B6D8F59A1615}" destId="{34E3ED34-F0B7-4204-9CD4-780AA78A060A}" srcOrd="2" destOrd="0" presId="urn:microsoft.com/office/officeart/2018/2/layout/IconVerticalSolidList"/>
    <dgm:cxn modelId="{E0ED2425-7BB4-4B2F-8323-4F698897B520}" type="presParOf" srcId="{6C9883B1-0EE5-477B-AE2F-B6D8F59A1615}" destId="{C5DF182E-7757-4D0E-81AD-97FB12D880AD}" srcOrd="3" destOrd="0" presId="urn:microsoft.com/office/officeart/2018/2/layout/IconVerticalSolidList"/>
    <dgm:cxn modelId="{50B2B095-071C-4069-998C-BFEAB1F76F8A}" type="presParOf" srcId="{0CFA91EC-6485-433B-9796-058544E335FB}" destId="{D579CB07-854C-4C86-869F-0CD04C0D7AA7}" srcOrd="1" destOrd="0" presId="urn:microsoft.com/office/officeart/2018/2/layout/IconVerticalSolidList"/>
    <dgm:cxn modelId="{0E1931DC-B443-4297-AB17-D428D9F5500F}" type="presParOf" srcId="{0CFA91EC-6485-433B-9796-058544E335FB}" destId="{24A0D8B6-0D4D-481D-AFD7-557AE0FBD979}" srcOrd="2" destOrd="0" presId="urn:microsoft.com/office/officeart/2018/2/layout/IconVerticalSolidList"/>
    <dgm:cxn modelId="{06412E2F-069B-4120-AF50-3D72232406AE}" type="presParOf" srcId="{24A0D8B6-0D4D-481D-AFD7-557AE0FBD979}" destId="{040516D1-6603-4B7A-8A41-0D2042EFEB05}" srcOrd="0" destOrd="0" presId="urn:microsoft.com/office/officeart/2018/2/layout/IconVerticalSolidList"/>
    <dgm:cxn modelId="{C4E661D5-041F-43D1-B669-B940FC63F675}" type="presParOf" srcId="{24A0D8B6-0D4D-481D-AFD7-557AE0FBD979}" destId="{A40B690C-EA0A-4E84-A588-ACFE162D3AFE}" srcOrd="1" destOrd="0" presId="urn:microsoft.com/office/officeart/2018/2/layout/IconVerticalSolidList"/>
    <dgm:cxn modelId="{DC06B90B-7BF8-4241-9AB5-5AA68A61E324}" type="presParOf" srcId="{24A0D8B6-0D4D-481D-AFD7-557AE0FBD979}" destId="{388CD26A-E523-4C03-BE47-5E2D95894799}" srcOrd="2" destOrd="0" presId="urn:microsoft.com/office/officeart/2018/2/layout/IconVerticalSolidList"/>
    <dgm:cxn modelId="{3CE14B15-FE7D-4D5A-B345-607DDB2A4F6A}" type="presParOf" srcId="{24A0D8B6-0D4D-481D-AFD7-557AE0FBD979}" destId="{398CBEBE-8984-48DC-BDD3-1CCA56B5C7F2}" srcOrd="3" destOrd="0" presId="urn:microsoft.com/office/officeart/2018/2/layout/IconVerticalSolidList"/>
    <dgm:cxn modelId="{2FCE3533-CA41-4AE1-8724-D78DBA39EA5E}" type="presParOf" srcId="{0CFA91EC-6485-433B-9796-058544E335FB}" destId="{3E7B9DD9-CED5-48B2-B35B-4F1A42E95480}" srcOrd="3" destOrd="0" presId="urn:microsoft.com/office/officeart/2018/2/layout/IconVerticalSolidList"/>
    <dgm:cxn modelId="{3A69B100-54E8-4555-899C-A3C44BD77470}" type="presParOf" srcId="{0CFA91EC-6485-433B-9796-058544E335FB}" destId="{FF42917D-963D-4AAB-A8C0-FEFC5AB8A7B4}" srcOrd="4" destOrd="0" presId="urn:microsoft.com/office/officeart/2018/2/layout/IconVerticalSolidList"/>
    <dgm:cxn modelId="{E867D309-4A02-434B-91B3-59766F70233D}" type="presParOf" srcId="{FF42917D-963D-4AAB-A8C0-FEFC5AB8A7B4}" destId="{714990FF-5B0B-46AC-AC53-7CA851D6E10A}" srcOrd="0" destOrd="0" presId="urn:microsoft.com/office/officeart/2018/2/layout/IconVerticalSolidList"/>
    <dgm:cxn modelId="{C61131DB-F6C4-4750-A830-BC1673BAEA28}" type="presParOf" srcId="{FF42917D-963D-4AAB-A8C0-FEFC5AB8A7B4}" destId="{6A1A91DC-A74C-48D0-89FB-BC2659FBF984}" srcOrd="1" destOrd="0" presId="urn:microsoft.com/office/officeart/2018/2/layout/IconVerticalSolidList"/>
    <dgm:cxn modelId="{F7FB3EF6-98E2-4B32-9DB5-65F5604AFB9B}" type="presParOf" srcId="{FF42917D-963D-4AAB-A8C0-FEFC5AB8A7B4}" destId="{76CC0920-082D-468B-96A2-8C47D54BC6C8}" srcOrd="2" destOrd="0" presId="urn:microsoft.com/office/officeart/2018/2/layout/IconVerticalSolidList"/>
    <dgm:cxn modelId="{6C3B8A4E-21AC-4DE6-A8C1-B96CB5F4B80F}" type="presParOf" srcId="{FF42917D-963D-4AAB-A8C0-FEFC5AB8A7B4}" destId="{2DFE19FA-60F5-4997-8616-A27FC24C651B}" srcOrd="3" destOrd="0" presId="urn:microsoft.com/office/officeart/2018/2/layout/IconVerticalSolidList"/>
    <dgm:cxn modelId="{43B930B2-FB86-4006-8E1D-227296D097FB}" type="presParOf" srcId="{0CFA91EC-6485-433B-9796-058544E335FB}" destId="{2E9B4EA0-27D4-4E28-94B3-78B32E97DB63}" srcOrd="5" destOrd="0" presId="urn:microsoft.com/office/officeart/2018/2/layout/IconVerticalSolidList"/>
    <dgm:cxn modelId="{C366E9AA-606D-415A-8B76-7FB30F2F1742}" type="presParOf" srcId="{0CFA91EC-6485-433B-9796-058544E335FB}" destId="{9010E82B-13F4-42ED-9065-6FF2FA8781AF}" srcOrd="6" destOrd="0" presId="urn:microsoft.com/office/officeart/2018/2/layout/IconVerticalSolidList"/>
    <dgm:cxn modelId="{8E95229C-B266-4EC3-AED7-8834267D6515}" type="presParOf" srcId="{9010E82B-13F4-42ED-9065-6FF2FA8781AF}" destId="{1CEE47A5-D148-439E-A25B-73ABB3C2AD85}" srcOrd="0" destOrd="0" presId="urn:microsoft.com/office/officeart/2018/2/layout/IconVerticalSolidList"/>
    <dgm:cxn modelId="{243652D7-7B37-47F6-A71B-D9A19E146D40}" type="presParOf" srcId="{9010E82B-13F4-42ED-9065-6FF2FA8781AF}" destId="{0DE8ACD3-F91C-4DE7-8794-CAF47DF1C460}" srcOrd="1" destOrd="0" presId="urn:microsoft.com/office/officeart/2018/2/layout/IconVerticalSolidList"/>
    <dgm:cxn modelId="{279E69A5-20E3-4C01-8CDE-42B518098B5D}" type="presParOf" srcId="{9010E82B-13F4-42ED-9065-6FF2FA8781AF}" destId="{D89F3CA2-17E6-44D5-B7D6-68CC35E7EDB5}" srcOrd="2" destOrd="0" presId="urn:microsoft.com/office/officeart/2018/2/layout/IconVerticalSolidList"/>
    <dgm:cxn modelId="{2B34339F-3E07-4E45-AB4E-E9CFCAED0A5B}" type="presParOf" srcId="{9010E82B-13F4-42ED-9065-6FF2FA8781AF}" destId="{68A13F3A-C017-4B02-9329-B2D0C413C40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5AA8D5-1A72-4A21-A690-B04B700881DB}">
      <dsp:nvSpPr>
        <dsp:cNvPr id="0" name=""/>
        <dsp:cNvSpPr/>
      </dsp:nvSpPr>
      <dsp:spPr>
        <a:xfrm>
          <a:off x="0" y="2022"/>
          <a:ext cx="6172199" cy="102517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63AF36-3227-4A43-862A-F24C2337D211}">
      <dsp:nvSpPr>
        <dsp:cNvPr id="0" name=""/>
        <dsp:cNvSpPr/>
      </dsp:nvSpPr>
      <dsp:spPr>
        <a:xfrm>
          <a:off x="310115" y="232687"/>
          <a:ext cx="563846" cy="5638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DF182E-7757-4D0E-81AD-97FB12D880AD}">
      <dsp:nvSpPr>
        <dsp:cNvPr id="0" name=""/>
        <dsp:cNvSpPr/>
      </dsp:nvSpPr>
      <dsp:spPr>
        <a:xfrm>
          <a:off x="1184076" y="2022"/>
          <a:ext cx="4988123" cy="1025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498" tIns="108498" rIns="108498" bIns="10849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Courier companies handle a large number of parcels and customer records every day.</a:t>
          </a:r>
          <a:endParaRPr lang="en-US" sz="1900" kern="1200"/>
        </a:p>
      </dsp:txBody>
      <dsp:txXfrm>
        <a:off x="1184076" y="2022"/>
        <a:ext cx="4988123" cy="1025174"/>
      </dsp:txXfrm>
    </dsp:sp>
    <dsp:sp modelId="{040516D1-6603-4B7A-8A41-0D2042EFEB05}">
      <dsp:nvSpPr>
        <dsp:cNvPr id="0" name=""/>
        <dsp:cNvSpPr/>
      </dsp:nvSpPr>
      <dsp:spPr>
        <a:xfrm>
          <a:off x="0" y="1283491"/>
          <a:ext cx="6172199" cy="102517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0B690C-EA0A-4E84-A588-ACFE162D3AFE}">
      <dsp:nvSpPr>
        <dsp:cNvPr id="0" name=""/>
        <dsp:cNvSpPr/>
      </dsp:nvSpPr>
      <dsp:spPr>
        <a:xfrm>
          <a:off x="310115" y="1514155"/>
          <a:ext cx="563846" cy="5638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8CBEBE-8984-48DC-BDD3-1CCA56B5C7F2}">
      <dsp:nvSpPr>
        <dsp:cNvPr id="0" name=""/>
        <dsp:cNvSpPr/>
      </dsp:nvSpPr>
      <dsp:spPr>
        <a:xfrm>
          <a:off x="1184076" y="1283491"/>
          <a:ext cx="4988123" cy="1025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498" tIns="108498" rIns="108498" bIns="10849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Manual or separate record keeping is time-consuming and can lead to errors and duplicate data.</a:t>
          </a:r>
          <a:endParaRPr lang="en-US" sz="1900" kern="1200"/>
        </a:p>
      </dsp:txBody>
      <dsp:txXfrm>
        <a:off x="1184076" y="1283491"/>
        <a:ext cx="4988123" cy="1025174"/>
      </dsp:txXfrm>
    </dsp:sp>
    <dsp:sp modelId="{714990FF-5B0B-46AC-AC53-7CA851D6E10A}">
      <dsp:nvSpPr>
        <dsp:cNvPr id="0" name=""/>
        <dsp:cNvSpPr/>
      </dsp:nvSpPr>
      <dsp:spPr>
        <a:xfrm>
          <a:off x="0" y="2564959"/>
          <a:ext cx="6172199" cy="102517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1A91DC-A74C-48D0-89FB-BC2659FBF984}">
      <dsp:nvSpPr>
        <dsp:cNvPr id="0" name=""/>
        <dsp:cNvSpPr/>
      </dsp:nvSpPr>
      <dsp:spPr>
        <a:xfrm>
          <a:off x="310115" y="2795623"/>
          <a:ext cx="563846" cy="5638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FE19FA-60F5-4997-8616-A27FC24C651B}">
      <dsp:nvSpPr>
        <dsp:cNvPr id="0" name=""/>
        <dsp:cNvSpPr/>
      </dsp:nvSpPr>
      <dsp:spPr>
        <a:xfrm>
          <a:off x="1184076" y="2564959"/>
          <a:ext cx="4988123" cy="1025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498" tIns="108498" rIns="108498" bIns="10849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Customer, booking, delivery, tracking and payment information needs to be organized in one place.</a:t>
          </a:r>
          <a:endParaRPr lang="en-US" sz="1900" kern="1200"/>
        </a:p>
      </dsp:txBody>
      <dsp:txXfrm>
        <a:off x="1184076" y="2564959"/>
        <a:ext cx="4988123" cy="1025174"/>
      </dsp:txXfrm>
    </dsp:sp>
    <dsp:sp modelId="{1CEE47A5-D148-439E-A25B-73ABB3C2AD85}">
      <dsp:nvSpPr>
        <dsp:cNvPr id="0" name=""/>
        <dsp:cNvSpPr/>
      </dsp:nvSpPr>
      <dsp:spPr>
        <a:xfrm>
          <a:off x="0" y="3846427"/>
          <a:ext cx="6172199" cy="102517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E8ACD3-F91C-4DE7-8794-CAF47DF1C460}">
      <dsp:nvSpPr>
        <dsp:cNvPr id="0" name=""/>
        <dsp:cNvSpPr/>
      </dsp:nvSpPr>
      <dsp:spPr>
        <a:xfrm>
          <a:off x="310115" y="4077091"/>
          <a:ext cx="563846" cy="5638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A13F3A-C017-4B02-9329-B2D0C413C407}">
      <dsp:nvSpPr>
        <dsp:cNvPr id="0" name=""/>
        <dsp:cNvSpPr/>
      </dsp:nvSpPr>
      <dsp:spPr>
        <a:xfrm>
          <a:off x="1184076" y="3846427"/>
          <a:ext cx="4988123" cy="1025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498" tIns="108498" rIns="108498" bIns="10849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Our system uses a centralized DBMS to store, retrieve and update courier information efficiently.</a:t>
          </a:r>
          <a:endParaRPr lang="en-US" sz="1900" kern="1200"/>
        </a:p>
      </dsp:txBody>
      <dsp:txXfrm>
        <a:off x="1184076" y="3846427"/>
        <a:ext cx="4988123" cy="10251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0887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379CB-7F62-B856-4272-0AD1F0AFE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3E44E6-0AB6-28C3-03D6-8EA9612C2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8C3FD-A0C7-7F80-37CE-0049908A7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3AD86-BCE5-402A-9A63-AC164DC60237}" type="datetime1">
              <a:rPr lang="en-IN" smtClean="0"/>
              <a:t>08-10-2026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488A3-8B67-C4F4-A863-C884E22C6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DB69A-87D9-F138-CF1A-0946DAFAF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692342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6EB6E-3C0B-7B48-AC3E-BD6FAFE03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970AB-AA64-691F-8C7E-8FEE99424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9B65E-02B8-859B-B398-2FEBD2ACB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3AD86-BCE5-402A-9A63-AC164DC60237}" type="datetime1">
              <a:rPr lang="en-IN" smtClean="0"/>
              <a:t>08-10-2026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C27A8-F171-9386-CAD2-B1A9397A2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61FBB-A9E0-B31E-7BDD-11EFCEED6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365268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CE8E2-50E6-2813-9516-2C4A664D8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E1FEAB-D93C-B411-F51B-01BCDDED2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3A571-B78C-2123-2113-99F33CB93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3AD86-BCE5-402A-9A63-AC164DC60237}" type="datetime1">
              <a:rPr lang="en-IN" smtClean="0"/>
              <a:t>08-10-2026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094F8-23ED-7922-48B6-621856351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F38FC-F4FC-4C8F-2650-1BDD9831A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195780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FB045-555E-0C3C-5F24-BD9D8D47A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3C1D3-E45D-11AF-C6B8-E1E214A21E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D9D9C-8172-3161-0B57-59683D9CC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2F93C-E610-7041-2736-95C961896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3AD86-BCE5-402A-9A63-AC164DC60237}" type="datetime1">
              <a:rPr lang="en-IN" smtClean="0"/>
              <a:t>08-10-2026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CC64C-7B9E-99D3-C4E3-0D26018D0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85201-82FA-1433-CA8D-E379A1DE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84779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6A9E-5570-9333-330D-4C6D496F2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805EB-AA39-EE16-25E4-35631F721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B22622-40F8-70CE-DC21-BC230B66CB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C4E0B0-065B-8E16-3DC8-02F14B3A47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DA5563-93E5-A8C5-EC52-F37777BB2D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CC11CB-28A0-690E-24E8-948A374DC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3AD86-BCE5-402A-9A63-AC164DC60237}" type="datetime1">
              <a:rPr lang="en-IN" smtClean="0"/>
              <a:t>08-10-2026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849025-0284-4E60-560B-901AA948C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A77938-742E-0A80-B99F-06B8FC3A4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75716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55401-5F90-0E24-39A8-300A2C36B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9F72BE-FF71-86FE-3BCA-A6AC002EC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3AD86-BCE5-402A-9A63-AC164DC60237}" type="datetime1">
              <a:rPr lang="en-IN" smtClean="0"/>
              <a:t>08-10-2026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544B90-8203-D3D4-8C02-D14BD3F7F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E70EFB-C681-2E09-11C1-D58F3F840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205347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D8FCD8-A1A9-9C69-2076-167F164EA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3AD86-BCE5-402A-9A63-AC164DC60237}" type="datetime1">
              <a:rPr lang="en-IN" smtClean="0"/>
              <a:t>08-10-2026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F632B5-B764-898B-6623-EACBCD00E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4D521-E986-3B7A-F5FD-1783BE095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96798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2583B-6853-7E05-1D57-ECE0758E8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2E7C1-74D5-3D28-E8D7-2879EDF00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FC959-6D66-76E8-4B5C-0F51A92BC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5BCBC-B326-47FE-6375-1E0466B9B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3AD86-BCE5-402A-9A63-AC164DC60237}" type="datetime1">
              <a:rPr lang="en-IN" smtClean="0"/>
              <a:t>08-10-2026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5FB19-C781-B058-50F1-D490CA527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44E31-079A-18D4-53BB-A7B393E3D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228040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B809F-F989-B016-E95B-34C1C6E5F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2F6CD6-0FEC-DA95-2D9D-8B56398A73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E21F1-F570-E775-F53E-82C8B0410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5FEBD-F7F4-A447-9872-62EF4BD05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3AD86-BCE5-402A-9A63-AC164DC60237}" type="datetime1">
              <a:rPr lang="en-IN" smtClean="0"/>
              <a:t>08-10-2026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762FB-9324-C0A1-9008-1BE96C989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83B39-2C9A-8A04-4290-85DE99305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462667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2C28F-E3FA-8EF2-14C5-02016566F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4A45A8-E366-6E82-789B-6A314E258A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B08B3-C463-4CBB-8C6B-C19C471BC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3AD86-BCE5-402A-9A63-AC164DC60237}" type="datetime1">
              <a:rPr lang="en-IN" smtClean="0"/>
              <a:t>08-10-2026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8BC8F-AF66-AEE2-6EAE-1A50C23DA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26BA4-8F94-0967-CC34-790793A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817620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2AEA4F-870D-95D4-58DD-7359921C89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40945-685D-A4DF-48A8-43BF7C871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EF920-BECB-ED68-A6BC-712C410AB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3AD86-BCE5-402A-9A63-AC164DC60237}" type="datetime1">
              <a:rPr lang="en-IN" smtClean="0"/>
              <a:t>08-10-2026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3356A-72B5-695D-0DA5-E088E380A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3C13B-096D-3D10-7E48-27F00175B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10307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9D82C-4607-0C9D-F241-D35DBEFE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CFCC5-7F8E-F549-57BA-7303E9F1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3AD86-BCE5-402A-9A63-AC164DC60237}" type="datetime1">
              <a:rPr lang="en-IN" smtClean="0"/>
              <a:t>08-10-2026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BEB6A-C028-DA7D-C516-2F1316F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318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Date Placeholder 2"/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t>08-10-2026</a:t>
            </a:fld>
            <a:endParaRPr lang="en-US"/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483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F32724-4C46-EE28-7752-9E84BACD9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987F1-5902-D21B-9FC8-5BA87E748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C01DA-ABBD-60F0-9C6C-D87F01F6C9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33AD86-BCE5-402A-9A63-AC164DC60237}" type="datetime1">
              <a:rPr lang="en-IN" smtClean="0"/>
              <a:t>08-10-2026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4C77A-9A94-E740-BCF9-F75B0BC9B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7DCAD-7233-7DF5-285C-723AE0968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587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5" r:id="rId1"/>
    <p:sldLayoutId id="2147483946" r:id="rId2"/>
    <p:sldLayoutId id="2147483947" r:id="rId3"/>
    <p:sldLayoutId id="2147483948" r:id="rId4"/>
    <p:sldLayoutId id="2147483949" r:id="rId5"/>
    <p:sldLayoutId id="2147483950" r:id="rId6"/>
    <p:sldLayoutId id="2147483951" r:id="rId7"/>
    <p:sldLayoutId id="2147483952" r:id="rId8"/>
    <p:sldLayoutId id="2147483953" r:id="rId9"/>
    <p:sldLayoutId id="2147483954" r:id="rId10"/>
    <p:sldLayoutId id="2147483955" r:id="rId11"/>
    <p:sldLayoutId id="2147483956" r:id="rId12"/>
    <p:sldLayoutId id="2147483957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1"/>
          <p:cNvSpPr/>
          <p:nvPr/>
        </p:nvSpPr>
        <p:spPr>
          <a:xfrm>
            <a:off x="0" y="0"/>
            <a:ext cx="12192000" cy="2013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1"/>
          <p:cNvSpPr txBox="1"/>
          <p:nvPr/>
        </p:nvSpPr>
        <p:spPr>
          <a:xfrm>
            <a:off x="1081472" y="1922795"/>
            <a:ext cx="105156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COURIER MANAGEMENT SYSTEM</a:t>
            </a:r>
            <a:endParaRPr/>
          </a:p>
        </p:txBody>
      </p:sp>
      <p:sp>
        <p:nvSpPr>
          <p:cNvPr id="1031" name="Google Shape;1031;p1"/>
          <p:cNvSpPr txBox="1"/>
          <p:nvPr/>
        </p:nvSpPr>
        <p:spPr>
          <a:xfrm>
            <a:off x="3935760" y="2638090"/>
            <a:ext cx="4680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DBMS Cornerstone Project</a:t>
            </a:r>
            <a:endParaRPr/>
          </a:p>
        </p:txBody>
      </p:sp>
      <p:sp>
        <p:nvSpPr>
          <p:cNvPr id="1032" name="Google Shape;1032;p1"/>
          <p:cNvSpPr txBox="1"/>
          <p:nvPr/>
        </p:nvSpPr>
        <p:spPr>
          <a:xfrm>
            <a:off x="3935760" y="4077072"/>
            <a:ext cx="4807024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Department of CSE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5F6368"/>
                </a:solidFill>
                <a:latin typeface="Calibri"/>
                <a:ea typeface="Calibri"/>
                <a:cs typeface="Calibri"/>
                <a:sym typeface="Calibri"/>
              </a:rPr>
              <a:t>Team Members:</a:t>
            </a:r>
            <a:endParaRPr lang="en-US" sz="1700" b="1">
              <a:solidFill>
                <a:srgbClr val="5F63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5F6368"/>
                </a:solidFill>
                <a:latin typeface="Calibri"/>
                <a:ea typeface="Calibri"/>
                <a:cs typeface="Calibri"/>
                <a:sym typeface="Calibri"/>
              </a:rPr>
              <a:t>26B21CS086   Y.J.P.SARADHI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5F6368"/>
                </a:solidFill>
                <a:latin typeface="Calibri"/>
                <a:ea typeface="Calibri"/>
                <a:cs typeface="Calibri"/>
                <a:sym typeface="Calibri"/>
              </a:rPr>
              <a:t>     25B11CS272     </a:t>
            </a:r>
            <a:r>
              <a:rPr lang="en-US" sz="1700" b="1">
                <a:solidFill>
                  <a:srgbClr val="5F6368"/>
                </a:solidFill>
                <a:latin typeface="Calibri"/>
                <a:ea typeface="Calibri"/>
                <a:cs typeface="Calibri"/>
                <a:sym typeface="Calibri"/>
              </a:rPr>
              <a:t>G.H.D.V.S.SURESH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5F6368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lang="en-US" sz="1700" b="1" i="0" u="none" strike="noStrike" cap="none">
                <a:solidFill>
                  <a:srgbClr val="5F6368"/>
                </a:solidFill>
                <a:latin typeface="Calibri"/>
                <a:ea typeface="Calibri"/>
                <a:cs typeface="Calibri"/>
                <a:sym typeface="Calibri"/>
              </a:rPr>
              <a:t>25B11CS228</a:t>
            </a:r>
            <a:r>
              <a:rPr lang="en-US" sz="1700" b="1">
                <a:solidFill>
                  <a:srgbClr val="5F6368"/>
                </a:solidFill>
                <a:latin typeface="Calibri"/>
                <a:ea typeface="Calibri"/>
                <a:cs typeface="Calibri"/>
                <a:sym typeface="Calibri"/>
              </a:rPr>
              <a:t>   D.M.S.P.SIDDHU SRI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5F6368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lang="en-US" sz="1700" b="1" i="0" u="none" strike="noStrike" cap="none">
                <a:solidFill>
                  <a:srgbClr val="5F6368"/>
                </a:solidFill>
                <a:latin typeface="Calibri"/>
                <a:ea typeface="Calibri"/>
                <a:cs typeface="Calibri"/>
                <a:sym typeface="Calibri"/>
              </a:rPr>
              <a:t>25B11CS401   K.BHUVANA HASINI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5F6368"/>
                </a:solidFill>
                <a:latin typeface="Calibri"/>
                <a:ea typeface="Calibri"/>
                <a:cs typeface="Calibri"/>
                <a:sym typeface="Calibri"/>
              </a:rPr>
              <a:t>Academic Year: 2026</a:t>
            </a:r>
            <a:endParaRPr/>
          </a:p>
        </p:txBody>
      </p:sp>
      <p:pic>
        <p:nvPicPr>
          <p:cNvPr id="7" name="Picture 2" descr="C:\Users\My\Desktop\Capture.PNG">
            <a:extLst>
              <a:ext uri="{FF2B5EF4-FFF2-40B4-BE49-F238E27FC236}">
                <a16:creationId xmlns:a16="http://schemas.microsoft.com/office/drawing/2014/main" id="{7ECB1942-B795-BDA7-17E2-1DA66B7C9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83159" y="841976"/>
            <a:ext cx="6484776" cy="838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33C590-3CA2-B2BB-C2A6-D91CC4BDA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                                                   K Vydehi, Asst Professr, CSE Dept.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546140-11BE-1797-B553-9BBE801E0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t>08-10-2026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23224-1EFF-8BB3-95C8-0F5578F60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2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2FA59DD-D7B6-3464-FF72-7FB576D8DF99}"/>
              </a:ext>
            </a:extLst>
          </p:cNvPr>
          <p:cNvGrpSpPr/>
          <p:nvPr/>
        </p:nvGrpSpPr>
        <p:grpSpPr>
          <a:xfrm>
            <a:off x="3838280" y="214104"/>
            <a:ext cx="6055482" cy="1261107"/>
            <a:chOff x="13004829" y="1407596"/>
            <a:chExt cx="6141489" cy="190935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1464AA6-5F92-EA51-96BD-16B8B56D9743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8" name="object 3">
                <a:extLst>
                  <a:ext uri="{FF2B5EF4-FFF2-40B4-BE49-F238E27FC236}">
                    <a16:creationId xmlns:a16="http://schemas.microsoft.com/office/drawing/2014/main" id="{F454BB65-2A62-9FEB-E165-F5647C5AC727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09C1539B-A5B3-EC7E-8306-9BFBD088AA2B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sz="1055"/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940CD98-B0CA-F073-0F20-BAAF700804FE}"/>
                </a:ext>
              </a:extLst>
            </p:cNvPr>
            <p:cNvSpPr/>
            <p:nvPr/>
          </p:nvSpPr>
          <p:spPr>
            <a:xfrm>
              <a:off x="13185154" y="1773658"/>
              <a:ext cx="5635331" cy="69897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352"/>
                </a:spcBef>
                <a:buClr>
                  <a:srgbClr val="000000"/>
                </a:buClr>
                <a:defRPr/>
              </a:pPr>
              <a:r>
                <a:rPr lang="en-US" sz="2400" b="1" ker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Outline Of The Talk</a:t>
              </a:r>
              <a:endParaRPr lang="en-US" sz="24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ea typeface="Verdana" pitchFamily="34" charset="0"/>
                <a:cs typeface="Arial Unicode MS" panose="020B0604020202020204" pitchFamily="34" charset="-128"/>
                <a:sym typeface="Arial" panose="020B060402020202020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7846774-36F1-B7F9-7345-1C07FC054B97}"/>
              </a:ext>
            </a:extLst>
          </p:cNvPr>
          <p:cNvSpPr txBox="1"/>
          <p:nvPr/>
        </p:nvSpPr>
        <p:spPr>
          <a:xfrm>
            <a:off x="1337188" y="1397674"/>
            <a:ext cx="983225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/>
              <a:t>BACKGROUND AND PROBLEM STATEMENT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OBJECTIVES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REQUIREMENT ANALYSIS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END USERS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SYSTEM MODULES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ER DIAGRAM – ENTITIES,KEYS AND RELATIONSHIPS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RELATIONAL SCHEMA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EXPECTED OUTCOME AND ADVANTAGES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CONCLUSION</a:t>
            </a:r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endParaRPr lang="en-IN"/>
          </a:p>
        </p:txBody>
      </p:sp>
      <p:pic>
        <p:nvPicPr>
          <p:cNvPr id="12" name="Picture 2" descr="C:\Users\My\Desktop\Capture 1.PNG">
            <a:extLst>
              <a:ext uri="{FF2B5EF4-FFF2-40B4-BE49-F238E27FC236}">
                <a16:creationId xmlns:a16="http://schemas.microsoft.com/office/drawing/2014/main" id="{6C00202D-DD3A-C9DD-DA55-012B76959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799" y="187499"/>
            <a:ext cx="1810605" cy="7041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70732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2"/>
          <p:cNvSpPr txBox="1"/>
          <p:nvPr/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i="0" u="none" strike="noStrike" cap="none">
                <a:latin typeface="+mj-lt"/>
                <a:ea typeface="+mj-ea"/>
                <a:cs typeface="+mj-cs"/>
              </a:rPr>
              <a:t>Background &amp; Problem Statement</a:t>
            </a:r>
            <a:endParaRPr lang="en-US" sz="3200">
              <a:latin typeface="+mj-lt"/>
              <a:ea typeface="+mj-ea"/>
              <a:cs typeface="+mj-cs"/>
            </a:endParaRPr>
          </a:p>
        </p:txBody>
      </p:sp>
      <p:sp>
        <p:nvSpPr>
          <p:cNvPr id="1036" name="Google Shape;1036;p2"/>
          <p:cNvSpPr txBox="1"/>
          <p:nvPr/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1600" b="0" i="0" u="none" strike="noStrike" kern="1200" cap="none">
                <a:latin typeface="+mn-lt"/>
                <a:ea typeface="+mn-ea"/>
                <a:cs typeface="+mn-cs"/>
              </a:rPr>
              <a:t>DBMS Cornerstone Project  |  Courier Management System                                      </a:t>
            </a:r>
            <a:endParaRPr lang="en-US" sz="1600" kern="1200">
              <a:latin typeface="+mn-lt"/>
              <a:ea typeface="+mn-ea"/>
              <a:cs typeface="+mn-cs"/>
            </a:endParaRPr>
          </a:p>
        </p:txBody>
      </p:sp>
      <p:sp>
        <p:nvSpPr>
          <p:cNvPr id="1042" name="Date Placeholder 4">
            <a:extLst>
              <a:ext uri="{FF2B5EF4-FFF2-40B4-BE49-F238E27FC236}">
                <a16:creationId xmlns:a16="http://schemas.microsoft.com/office/drawing/2014/main" id="{2C5EB8ED-5F6D-4FCC-67BC-C2A568CCD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8433AD86-BCE5-402A-9A63-AC164DC60237}" type="datetime1">
              <a:rPr lang="en-IN" smtClean="0"/>
              <a:pPr>
                <a:spcAft>
                  <a:spcPts val="600"/>
                </a:spcAft>
              </a:pPr>
              <a:t>08-10-2026</a:t>
            </a:fld>
            <a:endParaRPr lang="en-US"/>
          </a:p>
        </p:txBody>
      </p:sp>
      <p:sp>
        <p:nvSpPr>
          <p:cNvPr id="1044" name="Footer Placeholder 5">
            <a:extLst>
              <a:ext uri="{FF2B5EF4-FFF2-40B4-BE49-F238E27FC236}">
                <a16:creationId xmlns:a16="http://schemas.microsoft.com/office/drawing/2014/main" id="{EA1DF70A-49BF-949E-3BF3-640C91EAD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1046" name="Slide Number Placeholder 6">
            <a:extLst>
              <a:ext uri="{FF2B5EF4-FFF2-40B4-BE49-F238E27FC236}">
                <a16:creationId xmlns:a16="http://schemas.microsoft.com/office/drawing/2014/main" id="{0F3D8EC1-C121-FA17-1DE3-BA885DE57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326EF2E3-409D-4D76-AD02-397A36B0DAF9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1038" name="Google Shape;1035;p2">
            <a:extLst>
              <a:ext uri="{FF2B5EF4-FFF2-40B4-BE49-F238E27FC236}">
                <a16:creationId xmlns:a16="http://schemas.microsoft.com/office/drawing/2014/main" id="{4FE28047-098D-FAC3-03D0-8BB87E4595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6610414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C:\Users\My\Desktop\Capture 1.PNG">
            <a:extLst>
              <a:ext uri="{FF2B5EF4-FFF2-40B4-BE49-F238E27FC236}">
                <a16:creationId xmlns:a16="http://schemas.microsoft.com/office/drawing/2014/main" id="{F79E616B-C64C-DDD3-5CA0-0F670660D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04800" y="187499"/>
            <a:ext cx="1755112" cy="6825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"/>
          <p:cNvSpPr txBox="1"/>
          <p:nvPr/>
        </p:nvSpPr>
        <p:spPr>
          <a:xfrm flipH="1">
            <a:off x="5212994" y="533908"/>
            <a:ext cx="35010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/>
          </a:p>
        </p:txBody>
      </p:sp>
      <p:sp>
        <p:nvSpPr>
          <p:cNvPr id="1039" name="Google Shape;1039;p3"/>
          <p:cNvSpPr txBox="1"/>
          <p:nvPr/>
        </p:nvSpPr>
        <p:spPr>
          <a:xfrm>
            <a:off x="1984800" y="1772100"/>
            <a:ext cx="8988000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Maintain customer information in a structured database.</a:t>
            </a:r>
            <a:endParaRPr lang="en-US" sz="2400"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Manage courier bookings and parcel details.</a:t>
            </a:r>
            <a:endParaRPr lang="en-US" sz="2400"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Store sender, receiver, source and destination information.</a:t>
            </a:r>
            <a:endParaRPr lang="en-US" sz="2400"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Track courier status using a unique Tracking ID.</a:t>
            </a:r>
            <a:endParaRPr lang="en-US" sz="2400"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Manage delivery-agent assignments and delivery updates.</a:t>
            </a:r>
            <a:endParaRPr lang="en-US" sz="2400"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Maintain payment details and payment status.</a:t>
            </a:r>
            <a:endParaRPr lang="en-US" sz="2400"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Reduce manual work and improve data accuracy and consistency</a:t>
            </a:r>
            <a:r>
              <a:rPr lang="en-US" sz="1800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040" name="Google Shape;1040;p3"/>
          <p:cNvSpPr txBox="1"/>
          <p:nvPr/>
        </p:nvSpPr>
        <p:spPr>
          <a:xfrm>
            <a:off x="320040" y="64008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F6368"/>
                </a:solidFill>
                <a:latin typeface="Calibri"/>
                <a:ea typeface="Calibri"/>
                <a:cs typeface="Calibri"/>
                <a:sym typeface="Calibri"/>
              </a:rPr>
              <a:t>DBMS Cornerstone Project  |  Courier Management System                                      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4"/>
          <p:cNvSpPr txBox="1"/>
          <p:nvPr/>
        </p:nvSpPr>
        <p:spPr>
          <a:xfrm>
            <a:off x="4329419" y="389150"/>
            <a:ext cx="58215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Requirement Analysis</a:t>
            </a:r>
            <a:endParaRPr/>
          </a:p>
        </p:txBody>
      </p:sp>
      <p:sp>
        <p:nvSpPr>
          <p:cNvPr id="1043" name="Google Shape;1043;p4"/>
          <p:cNvSpPr/>
          <p:nvPr/>
        </p:nvSpPr>
        <p:spPr>
          <a:xfrm>
            <a:off x="1090049" y="1440180"/>
            <a:ext cx="4663500" cy="4434900"/>
          </a:xfrm>
          <a:prstGeom prst="roundRect">
            <a:avLst>
              <a:gd name="adj" fmla="val 16667"/>
            </a:avLst>
          </a:prstGeom>
          <a:solidFill>
            <a:srgbClr val="EBF2FA"/>
          </a:solidFill>
          <a:ln w="9525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4"/>
          <p:cNvSpPr txBox="1"/>
          <p:nvPr/>
        </p:nvSpPr>
        <p:spPr>
          <a:xfrm flipH="1">
            <a:off x="2034400" y="1830475"/>
            <a:ext cx="312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Functional Requirements</a:t>
            </a:r>
            <a:endParaRPr/>
          </a:p>
        </p:txBody>
      </p:sp>
      <p:sp>
        <p:nvSpPr>
          <p:cNvPr id="1045" name="Google Shape;1045;p4"/>
          <p:cNvSpPr txBox="1"/>
          <p:nvPr/>
        </p:nvSpPr>
        <p:spPr>
          <a:xfrm>
            <a:off x="1474237" y="2307167"/>
            <a:ext cx="3821062" cy="3200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Customer registration and management</a:t>
            </a:r>
            <a:endParaRPr lang="en-US"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Courier booking and parcel entry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Store sender/receiver details</a:t>
            </a:r>
            <a:endParaRPr lang="en-US">
              <a:sym typeface="Calibri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Generate/store Tracking ID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Update shipment status and location</a:t>
            </a:r>
            <a:endParaRPr lang="en-US">
              <a:sym typeface="Calibri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Assign delivery personnel</a:t>
            </a:r>
            <a:endParaRPr lang="en-US">
              <a:sym typeface="Calibri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Record payments and payment status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View basic reports</a:t>
            </a:r>
            <a:endParaRPr/>
          </a:p>
        </p:txBody>
      </p:sp>
      <p:sp>
        <p:nvSpPr>
          <p:cNvPr id="1046" name="Google Shape;1046;p4"/>
          <p:cNvSpPr/>
          <p:nvPr/>
        </p:nvSpPr>
        <p:spPr>
          <a:xfrm>
            <a:off x="6629405" y="1440180"/>
            <a:ext cx="4663500" cy="4434900"/>
          </a:xfrm>
          <a:prstGeom prst="roundRect">
            <a:avLst>
              <a:gd name="adj" fmla="val 16667"/>
            </a:avLst>
          </a:prstGeom>
          <a:solidFill>
            <a:srgbClr val="EBF2FA"/>
          </a:solidFill>
          <a:ln w="9525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4"/>
          <p:cNvSpPr txBox="1"/>
          <p:nvPr/>
        </p:nvSpPr>
        <p:spPr>
          <a:xfrm rot="-275" flipH="1">
            <a:off x="7294350" y="1888400"/>
            <a:ext cx="37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Non-Functional Requirements</a:t>
            </a:r>
            <a:endParaRPr/>
          </a:p>
        </p:txBody>
      </p:sp>
      <p:sp>
        <p:nvSpPr>
          <p:cNvPr id="1048" name="Google Shape;1048;p4"/>
          <p:cNvSpPr txBox="1"/>
          <p:nvPr/>
        </p:nvSpPr>
        <p:spPr>
          <a:xfrm>
            <a:off x="6994741" y="2610665"/>
            <a:ext cx="4160400" cy="2267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Security and authorized access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Data accuracy and consistency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Simple and user-friendly interface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Fast data retrieval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Reliable database storage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Easy maintenance and updates</a:t>
            </a:r>
            <a:endParaRPr/>
          </a:p>
        </p:txBody>
      </p:sp>
      <p:sp>
        <p:nvSpPr>
          <p:cNvPr id="1049" name="Google Shape;1049;p4"/>
          <p:cNvSpPr txBox="1"/>
          <p:nvPr/>
        </p:nvSpPr>
        <p:spPr>
          <a:xfrm>
            <a:off x="320040" y="64008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F6368"/>
                </a:solidFill>
                <a:latin typeface="Calibri"/>
                <a:ea typeface="Calibri"/>
                <a:cs typeface="Calibri"/>
                <a:sym typeface="Calibri"/>
              </a:rPr>
              <a:t>DBMS Cornerstone Project  |  Courier Management System                                      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5"/>
          <p:cNvSpPr txBox="1"/>
          <p:nvPr/>
        </p:nvSpPr>
        <p:spPr>
          <a:xfrm flipH="1">
            <a:off x="4552850" y="387096"/>
            <a:ext cx="46905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End Users</a:t>
            </a:r>
            <a:endParaRPr/>
          </a:p>
        </p:txBody>
      </p:sp>
      <p:sp>
        <p:nvSpPr>
          <p:cNvPr id="1052" name="Google Shape;1052;p5"/>
          <p:cNvSpPr txBox="1"/>
          <p:nvPr/>
        </p:nvSpPr>
        <p:spPr>
          <a:xfrm>
            <a:off x="1867350" y="1873000"/>
            <a:ext cx="7376100" cy="314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Admin — manages customers, couriers, delivery agents, payments and reports.</a:t>
            </a:r>
            <a:endParaRPr lang="en-US" sz="2400"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Courier Staff — registers bookings, enters parcel information and updates status.</a:t>
            </a:r>
            <a:endParaRPr lang="en-US" sz="2400"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Delivery Agent — receives assigned parcels and updates delivery information.</a:t>
            </a:r>
            <a:endParaRPr lang="en-US" sz="2400"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Customer — registers, books a courier, views shipment details and tracks the parcel.</a:t>
            </a:r>
            <a:endParaRPr sz="2400"/>
          </a:p>
        </p:txBody>
      </p:sp>
      <p:sp>
        <p:nvSpPr>
          <p:cNvPr id="1053" name="Google Shape;1053;p5"/>
          <p:cNvSpPr txBox="1"/>
          <p:nvPr/>
        </p:nvSpPr>
        <p:spPr>
          <a:xfrm>
            <a:off x="320040" y="64008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F6368"/>
                </a:solidFill>
                <a:latin typeface="Calibri"/>
                <a:ea typeface="Calibri"/>
                <a:cs typeface="Calibri"/>
                <a:sym typeface="Calibri"/>
              </a:rPr>
              <a:t>DBMS Cornerstone Project  |  Courier Management System                                      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6"/>
          <p:cNvSpPr txBox="1"/>
          <p:nvPr/>
        </p:nvSpPr>
        <p:spPr>
          <a:xfrm>
            <a:off x="4502950" y="389100"/>
            <a:ext cx="67899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System Modules</a:t>
            </a:r>
            <a:endParaRPr/>
          </a:p>
        </p:txBody>
      </p:sp>
      <p:sp>
        <p:nvSpPr>
          <p:cNvPr id="1056" name="Google Shape;1056;p6"/>
          <p:cNvSpPr/>
          <p:nvPr/>
        </p:nvSpPr>
        <p:spPr>
          <a:xfrm>
            <a:off x="1322600" y="1440150"/>
            <a:ext cx="4663500" cy="4434900"/>
          </a:xfrm>
          <a:prstGeom prst="roundRect">
            <a:avLst>
              <a:gd name="adj" fmla="val 16667"/>
            </a:avLst>
          </a:prstGeom>
          <a:solidFill>
            <a:srgbClr val="EBF2FA"/>
          </a:solidFill>
          <a:ln w="9525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6"/>
          <p:cNvSpPr txBox="1"/>
          <p:nvPr/>
        </p:nvSpPr>
        <p:spPr>
          <a:xfrm flipH="1">
            <a:off x="2717225" y="1714960"/>
            <a:ext cx="27705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Core Modules</a:t>
            </a:r>
            <a:endParaRPr sz="2400"/>
          </a:p>
        </p:txBody>
      </p:sp>
      <p:sp>
        <p:nvSpPr>
          <p:cNvPr id="1058" name="Google Shape;1058;p6"/>
          <p:cNvSpPr txBox="1"/>
          <p:nvPr/>
        </p:nvSpPr>
        <p:spPr>
          <a:xfrm>
            <a:off x="2071025" y="2773725"/>
            <a:ext cx="2770500" cy="178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Customer Module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Courier Management Module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Delivery Module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Payment Module</a:t>
            </a:r>
            <a:endParaRPr/>
          </a:p>
        </p:txBody>
      </p:sp>
      <p:sp>
        <p:nvSpPr>
          <p:cNvPr id="1059" name="Google Shape;1059;p6"/>
          <p:cNvSpPr/>
          <p:nvPr/>
        </p:nvSpPr>
        <p:spPr>
          <a:xfrm>
            <a:off x="6869723" y="1440180"/>
            <a:ext cx="4663500" cy="4434900"/>
          </a:xfrm>
          <a:prstGeom prst="roundRect">
            <a:avLst>
              <a:gd name="adj" fmla="val 16667"/>
            </a:avLst>
          </a:prstGeom>
          <a:solidFill>
            <a:srgbClr val="EBF2FA"/>
          </a:solidFill>
          <a:ln w="9525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6"/>
          <p:cNvSpPr txBox="1"/>
          <p:nvPr/>
        </p:nvSpPr>
        <p:spPr>
          <a:xfrm flipH="1">
            <a:off x="7682250" y="1764941"/>
            <a:ext cx="33912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Administrative Functions</a:t>
            </a:r>
            <a:endParaRPr sz="2400"/>
          </a:p>
        </p:txBody>
      </p:sp>
      <p:sp>
        <p:nvSpPr>
          <p:cNvPr id="1061" name="Google Shape;1061;p6"/>
          <p:cNvSpPr txBox="1"/>
          <p:nvPr/>
        </p:nvSpPr>
        <p:spPr>
          <a:xfrm>
            <a:off x="7121275" y="2503300"/>
            <a:ext cx="4160400" cy="178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Admin Module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Customer and employee management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Courier and payment record management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Basic booking, delivery and pending-shipment reports</a:t>
            </a:r>
            <a:endParaRPr/>
          </a:p>
        </p:txBody>
      </p:sp>
      <p:sp>
        <p:nvSpPr>
          <p:cNvPr id="1062" name="Google Shape;1062;p6"/>
          <p:cNvSpPr txBox="1"/>
          <p:nvPr/>
        </p:nvSpPr>
        <p:spPr>
          <a:xfrm>
            <a:off x="320040" y="64008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F6368"/>
                </a:solidFill>
                <a:latin typeface="Calibri"/>
                <a:ea typeface="Calibri"/>
                <a:cs typeface="Calibri"/>
                <a:sym typeface="Calibri"/>
              </a:rPr>
              <a:t>DBMS Cornerstone Project  |  Courier Management System                                      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44210" y="251460"/>
            <a:ext cx="60684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E375F"/>
                </a:solidFill>
              </a:defRPr>
            </a:pPr>
            <a:r>
              <a:t>Relational Schema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552BDB-5E17-8F5B-25F7-0B704878BC10}"/>
              </a:ext>
            </a:extLst>
          </p:cNvPr>
          <p:cNvSpPr txBox="1"/>
          <p:nvPr/>
        </p:nvSpPr>
        <p:spPr>
          <a:xfrm>
            <a:off x="833377" y="949478"/>
            <a:ext cx="9546865" cy="6942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500"/>
              </a:spcAft>
              <a:defRPr sz="1800" b="1"/>
            </a:pPr>
            <a:r>
              <a:rPr lang="en-IN"/>
              <a:t>CUSTOMER</a:t>
            </a:r>
          </a:p>
          <a:p>
            <a:pPr>
              <a:spcAft>
                <a:spcPts val="500"/>
              </a:spcAft>
              <a:defRPr sz="1700" b="0"/>
            </a:pPr>
            <a:r>
              <a:rPr lang="en-IN"/>
              <a:t>(</a:t>
            </a:r>
            <a:r>
              <a:rPr lang="en-IN" err="1"/>
              <a:t>Customer_ID</a:t>
            </a:r>
            <a:r>
              <a:rPr lang="en-IN"/>
              <a:t> [PK], Name, Email, Phone, Address)</a:t>
            </a:r>
          </a:p>
          <a:p>
            <a:pPr>
              <a:spcAft>
                <a:spcPts val="500"/>
              </a:spcAft>
              <a:defRPr sz="1800" b="1"/>
            </a:pPr>
            <a:endParaRPr lang="en-IN"/>
          </a:p>
          <a:p>
            <a:pPr>
              <a:spcAft>
                <a:spcPts val="500"/>
              </a:spcAft>
              <a:defRPr sz="1800" b="1"/>
            </a:pPr>
            <a:r>
              <a:rPr lang="en-IN"/>
              <a:t>COURIER</a:t>
            </a:r>
          </a:p>
          <a:p>
            <a:pPr>
              <a:spcAft>
                <a:spcPts val="500"/>
              </a:spcAft>
              <a:defRPr sz="1700" b="0"/>
            </a:pPr>
            <a:r>
              <a:rPr lang="en-IN"/>
              <a:t>(</a:t>
            </a:r>
            <a:r>
              <a:rPr lang="en-IN" err="1"/>
              <a:t>Courier_ID</a:t>
            </a:r>
            <a:r>
              <a:rPr lang="en-IN"/>
              <a:t> [PK], </a:t>
            </a:r>
            <a:r>
              <a:rPr lang="en-IN" err="1"/>
              <a:t>Customer_ID</a:t>
            </a:r>
            <a:r>
              <a:rPr lang="en-IN"/>
              <a:t> [FK], </a:t>
            </a:r>
            <a:r>
              <a:rPr lang="en-IN" err="1"/>
              <a:t>Tracking_ID</a:t>
            </a:r>
            <a:r>
              <a:rPr lang="en-IN"/>
              <a:t>, </a:t>
            </a:r>
            <a:r>
              <a:rPr lang="en-IN" err="1"/>
              <a:t>Pickup_Address</a:t>
            </a:r>
            <a:r>
              <a:rPr lang="en-IN"/>
              <a:t>, </a:t>
            </a:r>
            <a:r>
              <a:rPr lang="en-IN" err="1"/>
              <a:t>Delivery_Address</a:t>
            </a:r>
            <a:r>
              <a:rPr lang="en-IN"/>
              <a:t>, </a:t>
            </a:r>
            <a:r>
              <a:rPr lang="en-IN" err="1"/>
              <a:t>Booking_Date</a:t>
            </a:r>
            <a:r>
              <a:rPr lang="en-IN"/>
              <a:t>, Weight, Status)</a:t>
            </a:r>
          </a:p>
          <a:p>
            <a:pPr>
              <a:spcAft>
                <a:spcPts val="500"/>
              </a:spcAft>
              <a:defRPr sz="1800" b="1"/>
            </a:pPr>
            <a:endParaRPr lang="en-IN"/>
          </a:p>
          <a:p>
            <a:pPr>
              <a:spcAft>
                <a:spcPts val="500"/>
              </a:spcAft>
              <a:defRPr sz="1800" b="1"/>
            </a:pPr>
            <a:r>
              <a:rPr lang="en-IN"/>
              <a:t>DELIVERY_AGENT</a:t>
            </a:r>
          </a:p>
          <a:p>
            <a:pPr>
              <a:spcAft>
                <a:spcPts val="500"/>
              </a:spcAft>
              <a:defRPr sz="1700" b="0"/>
            </a:pPr>
            <a:r>
              <a:rPr lang="en-IN"/>
              <a:t>(</a:t>
            </a:r>
            <a:r>
              <a:rPr lang="en-IN" err="1"/>
              <a:t>Agent_ID</a:t>
            </a:r>
            <a:r>
              <a:rPr lang="en-IN"/>
              <a:t> [PK], Name, Phone, Address, </a:t>
            </a:r>
            <a:r>
              <a:rPr lang="en-IN" err="1"/>
              <a:t>Vehicle_No</a:t>
            </a:r>
            <a:r>
              <a:rPr lang="en-IN"/>
              <a:t>)</a:t>
            </a:r>
          </a:p>
          <a:p>
            <a:pPr>
              <a:spcAft>
                <a:spcPts val="500"/>
              </a:spcAft>
              <a:defRPr sz="1700" b="0"/>
            </a:pPr>
            <a:endParaRPr lang="en-IN"/>
          </a:p>
          <a:p>
            <a:pPr>
              <a:spcAft>
                <a:spcPts val="500"/>
              </a:spcAft>
              <a:defRPr sz="1800" b="1"/>
            </a:pPr>
            <a:r>
              <a:rPr lang="en-US"/>
              <a:t>PAYMENT</a:t>
            </a:r>
          </a:p>
          <a:p>
            <a:pPr>
              <a:spcAft>
                <a:spcPts val="500"/>
              </a:spcAft>
              <a:defRPr sz="1700" b="0"/>
            </a:pPr>
            <a:r>
              <a:rPr lang="en-US"/>
              <a:t>(</a:t>
            </a:r>
            <a:r>
              <a:rPr lang="en-US" err="1"/>
              <a:t>Payment_ID</a:t>
            </a:r>
            <a:r>
              <a:rPr lang="en-US"/>
              <a:t> [PK], </a:t>
            </a:r>
            <a:r>
              <a:rPr lang="en-US" err="1"/>
              <a:t>Courier_ID</a:t>
            </a:r>
            <a:r>
              <a:rPr lang="en-US"/>
              <a:t> [FK], Amount, </a:t>
            </a:r>
            <a:r>
              <a:rPr lang="en-US" err="1"/>
              <a:t>Payment_Date</a:t>
            </a:r>
            <a:r>
              <a:rPr lang="en-US"/>
              <a:t>, </a:t>
            </a:r>
            <a:r>
              <a:rPr lang="en-US" err="1"/>
              <a:t>Payment_Method</a:t>
            </a:r>
            <a:r>
              <a:rPr lang="en-US"/>
              <a:t>, </a:t>
            </a:r>
            <a:r>
              <a:rPr lang="en-US" err="1"/>
              <a:t>Payment_Status</a:t>
            </a:r>
            <a:r>
              <a:rPr lang="en-US"/>
              <a:t>)</a:t>
            </a:r>
          </a:p>
          <a:p>
            <a:pPr>
              <a:spcAft>
                <a:spcPts val="500"/>
              </a:spcAft>
              <a:defRPr sz="1700" b="0"/>
            </a:pPr>
            <a:endParaRPr lang="en-IN"/>
          </a:p>
          <a:p>
            <a:pPr>
              <a:spcAft>
                <a:spcPts val="500"/>
              </a:spcAft>
              <a:defRPr sz="1700" b="0"/>
            </a:pPr>
            <a:r>
              <a:rPr lang="en-IN" b="1"/>
              <a:t>TRACKING</a:t>
            </a:r>
          </a:p>
          <a:p>
            <a:pPr>
              <a:spcAft>
                <a:spcPts val="500"/>
              </a:spcAft>
              <a:defRPr sz="1700" b="0"/>
            </a:pPr>
            <a:r>
              <a:rPr lang="en-IN"/>
              <a:t>(</a:t>
            </a:r>
            <a:r>
              <a:rPr lang="en-IN" err="1"/>
              <a:t>Tracking_ID</a:t>
            </a:r>
            <a:r>
              <a:rPr lang="en-IN"/>
              <a:t> [PK], </a:t>
            </a:r>
            <a:r>
              <a:rPr lang="en-IN" err="1"/>
              <a:t>Courier_ID</a:t>
            </a:r>
            <a:r>
              <a:rPr lang="en-IN"/>
              <a:t> [FK], Location, Status, </a:t>
            </a:r>
            <a:r>
              <a:rPr lang="en-IN" err="1"/>
              <a:t>Updated_</a:t>
            </a:r>
            <a:r>
              <a:rPr lang="en-IN"/>
              <a:t>date)</a:t>
            </a:r>
          </a:p>
          <a:p>
            <a:pPr>
              <a:spcAft>
                <a:spcPts val="500"/>
              </a:spcAft>
              <a:defRPr sz="1700" b="0"/>
            </a:pPr>
            <a:endParaRPr lang="en-IN"/>
          </a:p>
          <a:p>
            <a:pPr>
              <a:spcAft>
                <a:spcPts val="500"/>
              </a:spcAft>
              <a:defRPr sz="1800" b="1"/>
            </a:pPr>
            <a:endParaRPr lang="en-IN"/>
          </a:p>
          <a:p>
            <a:pPr>
              <a:spcAft>
                <a:spcPts val="500"/>
              </a:spcAft>
              <a:defRPr sz="1800" b="1"/>
            </a:pPr>
            <a:endParaRPr lang="en-IN"/>
          </a:p>
          <a:p>
            <a:pPr>
              <a:spcAft>
                <a:spcPts val="500"/>
              </a:spcAft>
              <a:defRPr sz="1700" b="0"/>
            </a:pPr>
            <a:endParaRPr lang="en-IN"/>
          </a:p>
          <a:p>
            <a:pPr>
              <a:spcAft>
                <a:spcPts val="500"/>
              </a:spcAft>
              <a:defRPr sz="1700" b="0"/>
            </a:pPr>
            <a:endParaRPr lang="en-IN"/>
          </a:p>
          <a:p>
            <a:endParaRPr lang="en-IN"/>
          </a:p>
        </p:txBody>
      </p:sp>
      <p:pic>
        <p:nvPicPr>
          <p:cNvPr id="18" name="Picture 2" descr="C:\Users\My\Desktop\Capture 1.PNG">
            <a:extLst>
              <a:ext uri="{FF2B5EF4-FFF2-40B4-BE49-F238E27FC236}">
                <a16:creationId xmlns:a16="http://schemas.microsoft.com/office/drawing/2014/main" id="{A5E9C08D-1D88-29BA-90AE-EB5FEFB6C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755112" cy="6825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12"/>
          <p:cNvSpPr txBox="1"/>
          <p:nvPr/>
        </p:nvSpPr>
        <p:spPr>
          <a:xfrm>
            <a:off x="2945148" y="502900"/>
            <a:ext cx="83478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Expected Outcome &amp; Advantages</a:t>
            </a:r>
            <a:endParaRPr/>
          </a:p>
        </p:txBody>
      </p:sp>
      <p:sp>
        <p:nvSpPr>
          <p:cNvPr id="1154" name="Google Shape;1154;p12"/>
          <p:cNvSpPr/>
          <p:nvPr/>
        </p:nvSpPr>
        <p:spPr>
          <a:xfrm>
            <a:off x="1144777" y="1497080"/>
            <a:ext cx="4663500" cy="4434900"/>
          </a:xfrm>
          <a:prstGeom prst="roundRect">
            <a:avLst>
              <a:gd name="adj" fmla="val 16667"/>
            </a:avLst>
          </a:prstGeom>
          <a:solidFill>
            <a:srgbClr val="EBF2FA"/>
          </a:solidFill>
          <a:ln w="9525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12"/>
          <p:cNvSpPr txBox="1"/>
          <p:nvPr/>
        </p:nvSpPr>
        <p:spPr>
          <a:xfrm flipH="1">
            <a:off x="2221175" y="2093427"/>
            <a:ext cx="254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Expected Outcome</a:t>
            </a:r>
            <a:endParaRPr/>
          </a:p>
        </p:txBody>
      </p:sp>
      <p:sp>
        <p:nvSpPr>
          <p:cNvPr id="1156" name="Google Shape;1156;p12"/>
          <p:cNvSpPr txBox="1"/>
          <p:nvPr/>
        </p:nvSpPr>
        <p:spPr>
          <a:xfrm>
            <a:off x="1647875" y="2850650"/>
            <a:ext cx="4160400" cy="17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Centralized courier database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Easy booking and record management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Simple shipment tracking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Accurate customer and payment records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Faster retrieval of information</a:t>
            </a:r>
            <a:endParaRPr/>
          </a:p>
        </p:txBody>
      </p:sp>
      <p:sp>
        <p:nvSpPr>
          <p:cNvPr id="1157" name="Google Shape;1157;p12"/>
          <p:cNvSpPr/>
          <p:nvPr/>
        </p:nvSpPr>
        <p:spPr>
          <a:xfrm>
            <a:off x="6365294" y="1497050"/>
            <a:ext cx="4663500" cy="4434900"/>
          </a:xfrm>
          <a:prstGeom prst="roundRect">
            <a:avLst>
              <a:gd name="adj" fmla="val 16667"/>
            </a:avLst>
          </a:prstGeom>
          <a:solidFill>
            <a:srgbClr val="EBF2FA"/>
          </a:solidFill>
          <a:ln w="9525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12"/>
          <p:cNvSpPr txBox="1"/>
          <p:nvPr/>
        </p:nvSpPr>
        <p:spPr>
          <a:xfrm flipH="1">
            <a:off x="7791975" y="1952150"/>
            <a:ext cx="254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Advantages</a:t>
            </a:r>
            <a:endParaRPr/>
          </a:p>
        </p:txBody>
      </p:sp>
      <p:sp>
        <p:nvSpPr>
          <p:cNvPr id="1159" name="Google Shape;1159;p12"/>
          <p:cNvSpPr txBox="1"/>
          <p:nvPr/>
        </p:nvSpPr>
        <p:spPr>
          <a:xfrm>
            <a:off x="7110800" y="2850650"/>
            <a:ext cx="3172500" cy="17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Less manual work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Reduced data redundancy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Improved consistency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Better organization of records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User-friendly operation</a:t>
            </a:r>
            <a:endParaRPr/>
          </a:p>
        </p:txBody>
      </p:sp>
      <p:sp>
        <p:nvSpPr>
          <p:cNvPr id="1160" name="Google Shape;1160;p12"/>
          <p:cNvSpPr txBox="1"/>
          <p:nvPr/>
        </p:nvSpPr>
        <p:spPr>
          <a:xfrm>
            <a:off x="320040" y="64008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F6368"/>
                </a:solidFill>
                <a:latin typeface="Calibri"/>
                <a:ea typeface="Calibri"/>
                <a:cs typeface="Calibri"/>
                <a:sym typeface="Calibri"/>
              </a:rPr>
              <a:t>DBMS Cornerstone Project  |  Courier Management System                                      12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1822" y="251461"/>
            <a:ext cx="737296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E375F"/>
                </a:solidFill>
              </a:defRPr>
            </a:pPr>
            <a:r>
              <a:t>ER Diagram </a:t>
            </a:r>
          </a:p>
        </p:txBody>
      </p:sp>
      <p:pic>
        <p:nvPicPr>
          <p:cNvPr id="25" name="Picture 2" descr="C:\Users\My\Desktop\Capture 1.PNG">
            <a:extLst>
              <a:ext uri="{FF2B5EF4-FFF2-40B4-BE49-F238E27FC236}">
                <a16:creationId xmlns:a16="http://schemas.microsoft.com/office/drawing/2014/main" id="{D8CC29F1-6FBB-5018-9161-FB15B4263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755112" cy="68254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182A19-A40A-F15F-E84D-02BD51457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931" y="854321"/>
            <a:ext cx="9796746" cy="57522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28516" y="349046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54274"/>
                </a:solidFill>
              </a:defRPr>
            </a:pPr>
            <a:r>
              <a:t>Entities, Keys &amp; Relationship Justification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1385" y="1198650"/>
            <a:ext cx="1520070" cy="401425"/>
          </a:xfrm>
          <a:prstGeom prst="rect">
            <a:avLst/>
          </a:prstGeom>
          <a:solidFill>
            <a:srgbClr val="254274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600" dirty="0"/>
              <a:t>Entity</a:t>
            </a:r>
            <a:r>
              <a:rPr lang="en-US" sz="1600" dirty="0"/>
              <a:t> 1</a:t>
            </a:r>
            <a:endParaRPr sz="1600" dirty="0"/>
          </a:p>
        </p:txBody>
      </p:sp>
      <p:sp>
        <p:nvSpPr>
          <p:cNvPr id="5" name="Rectangle 4"/>
          <p:cNvSpPr/>
          <p:nvPr/>
        </p:nvSpPr>
        <p:spPr>
          <a:xfrm>
            <a:off x="2015651" y="1198651"/>
            <a:ext cx="1956909" cy="401425"/>
          </a:xfrm>
          <a:prstGeom prst="rect">
            <a:avLst/>
          </a:prstGeom>
          <a:solidFill>
            <a:srgbClr val="254274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lang="en-US" sz="1600" dirty="0"/>
              <a:t>Relationship</a:t>
            </a:r>
            <a:r>
              <a:rPr sz="1600" dirty="0"/>
              <a:t>s</a:t>
            </a:r>
          </a:p>
        </p:txBody>
      </p:sp>
      <p:sp>
        <p:nvSpPr>
          <p:cNvPr id="6" name="Rectangle 5"/>
          <p:cNvSpPr/>
          <p:nvPr/>
        </p:nvSpPr>
        <p:spPr>
          <a:xfrm>
            <a:off x="4016756" y="1194031"/>
            <a:ext cx="2186877" cy="401425"/>
          </a:xfrm>
          <a:prstGeom prst="rect">
            <a:avLst/>
          </a:prstGeom>
          <a:solidFill>
            <a:srgbClr val="254274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lang="en-US" sz="1600" dirty="0"/>
              <a:t>Entit</a:t>
            </a:r>
            <a:r>
              <a:rPr sz="1600" dirty="0"/>
              <a:t>y</a:t>
            </a:r>
            <a:r>
              <a:rPr lang="en-US" sz="1600" dirty="0"/>
              <a:t> 2</a:t>
            </a:r>
            <a:endParaRPr sz="1600" dirty="0"/>
          </a:p>
        </p:txBody>
      </p:sp>
      <p:sp>
        <p:nvSpPr>
          <p:cNvPr id="7" name="Rectangle 6"/>
          <p:cNvSpPr/>
          <p:nvPr/>
        </p:nvSpPr>
        <p:spPr>
          <a:xfrm>
            <a:off x="8476487" y="1198651"/>
            <a:ext cx="3118105" cy="401425"/>
          </a:xfrm>
          <a:prstGeom prst="rect">
            <a:avLst/>
          </a:prstGeom>
          <a:solidFill>
            <a:srgbClr val="254274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lang="en-US" sz="1600" dirty="0"/>
              <a:t>Meaning</a:t>
            </a:r>
            <a:endParaRPr sz="1600" dirty="0"/>
          </a:p>
        </p:txBody>
      </p:sp>
      <p:sp>
        <p:nvSpPr>
          <p:cNvPr id="8" name="Rectangle 7"/>
          <p:cNvSpPr/>
          <p:nvPr/>
        </p:nvSpPr>
        <p:spPr>
          <a:xfrm>
            <a:off x="451386" y="1892022"/>
            <a:ext cx="1520070" cy="501378"/>
          </a:xfrm>
          <a:prstGeom prst="rect">
            <a:avLst/>
          </a:prstGeom>
          <a:solidFill>
            <a:srgbClr val="E9F0F9"/>
          </a:solidFill>
          <a:ln w="7620">
            <a:solidFill>
              <a:srgbClr val="437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rIns="73152" bIns="27432" rtlCol="0" anchor="ctr"/>
          <a:lstStyle/>
          <a:p>
            <a:pPr algn="ctr">
              <a:defRPr sz="840">
                <a:solidFill>
                  <a:srgbClr val="232830"/>
                </a:solidFill>
              </a:defRPr>
            </a:pPr>
            <a:r>
              <a:rPr sz="1600" dirty="0"/>
              <a:t>CUSTOMER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023663" y="1892021"/>
            <a:ext cx="1940887" cy="501378"/>
          </a:xfrm>
          <a:prstGeom prst="rect">
            <a:avLst/>
          </a:prstGeom>
          <a:solidFill>
            <a:srgbClr val="E9F0F9"/>
          </a:solidFill>
          <a:ln w="7620">
            <a:solidFill>
              <a:srgbClr val="437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rIns="73152" bIns="27432" rtlCol="0" anchor="ctr"/>
          <a:lstStyle/>
          <a:p>
            <a:pPr algn="ctr">
              <a:defRPr sz="840">
                <a:solidFill>
                  <a:srgbClr val="232830"/>
                </a:solidFill>
              </a:defRPr>
            </a:pPr>
            <a:r>
              <a:rPr lang="en-IN" sz="1600" dirty="0">
                <a:solidFill>
                  <a:srgbClr val="232830"/>
                </a:solidFill>
              </a:rPr>
              <a:t>Books</a:t>
            </a:r>
            <a:endParaRPr sz="1600" dirty="0"/>
          </a:p>
        </p:txBody>
      </p:sp>
      <p:sp>
        <p:nvSpPr>
          <p:cNvPr id="10" name="Rectangle 9"/>
          <p:cNvSpPr/>
          <p:nvPr/>
        </p:nvSpPr>
        <p:spPr>
          <a:xfrm>
            <a:off x="4050781" y="1892021"/>
            <a:ext cx="2170522" cy="501378"/>
          </a:xfrm>
          <a:prstGeom prst="rect">
            <a:avLst/>
          </a:prstGeom>
          <a:solidFill>
            <a:srgbClr val="E9F0F9"/>
          </a:solidFill>
          <a:ln w="7620">
            <a:solidFill>
              <a:srgbClr val="437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rIns="73152" bIns="27432" rtlCol="0" anchor="ctr"/>
          <a:lstStyle/>
          <a:p>
            <a:pPr algn="ctr">
              <a:defRPr sz="819">
                <a:solidFill>
                  <a:srgbClr val="232830"/>
                </a:solidFill>
              </a:defRPr>
            </a:pPr>
            <a:r>
              <a:rPr lang="en-IN" sz="1600" dirty="0">
                <a:solidFill>
                  <a:srgbClr val="232830"/>
                </a:solidFill>
              </a:rPr>
              <a:t>Courier</a:t>
            </a:r>
            <a:endParaRPr sz="1600" dirty="0"/>
          </a:p>
        </p:txBody>
      </p:sp>
      <p:sp>
        <p:nvSpPr>
          <p:cNvPr id="11" name="Rectangle 10"/>
          <p:cNvSpPr/>
          <p:nvPr/>
        </p:nvSpPr>
        <p:spPr>
          <a:xfrm>
            <a:off x="8476487" y="1892021"/>
            <a:ext cx="3118105" cy="501378"/>
          </a:xfrm>
          <a:prstGeom prst="rect">
            <a:avLst/>
          </a:prstGeom>
          <a:solidFill>
            <a:srgbClr val="E9F0F9"/>
          </a:solidFill>
          <a:ln w="7620">
            <a:solidFill>
              <a:srgbClr val="437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rIns="73152" bIns="27432" rtlCol="0" anchor="ctr"/>
          <a:lstStyle/>
          <a:p>
            <a:pPr algn="ctr">
              <a:defRPr sz="840">
                <a:solidFill>
                  <a:srgbClr val="232830"/>
                </a:solidFill>
              </a:defRPr>
            </a:pPr>
            <a:r>
              <a:rPr lang="en-IN" sz="1600" dirty="0">
                <a:solidFill>
                  <a:srgbClr val="232830"/>
                </a:solidFill>
              </a:rPr>
              <a:t>One customer can book many couriers.</a:t>
            </a:r>
            <a:endParaRPr lang="en-US" sz="1600" dirty="0"/>
          </a:p>
        </p:txBody>
      </p:sp>
      <p:sp>
        <p:nvSpPr>
          <p:cNvPr id="12" name="Rectangle 11"/>
          <p:cNvSpPr/>
          <p:nvPr/>
        </p:nvSpPr>
        <p:spPr>
          <a:xfrm>
            <a:off x="459329" y="2392346"/>
            <a:ext cx="1510865" cy="673432"/>
          </a:xfrm>
          <a:prstGeom prst="rect">
            <a:avLst/>
          </a:prstGeom>
          <a:solidFill>
            <a:srgbClr val="FFFFFF"/>
          </a:solidFill>
          <a:ln w="7620">
            <a:solidFill>
              <a:srgbClr val="437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rIns="73152" bIns="27432" rtlCol="0" anchor="ctr"/>
          <a:lstStyle/>
          <a:p>
            <a:pPr algn="ctr">
              <a:defRPr sz="840">
                <a:solidFill>
                  <a:srgbClr val="232830"/>
                </a:solidFill>
              </a:defRPr>
            </a:pPr>
            <a:r>
              <a:rPr sz="1600" dirty="0"/>
              <a:t>COURIER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30348" y="2392346"/>
            <a:ext cx="1942212" cy="673432"/>
          </a:xfrm>
          <a:prstGeom prst="rect">
            <a:avLst/>
          </a:prstGeom>
          <a:solidFill>
            <a:srgbClr val="FFFFFF"/>
          </a:solidFill>
          <a:ln w="7620">
            <a:solidFill>
              <a:srgbClr val="437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rIns="73152" bIns="27432" rtlCol="0" anchor="ctr"/>
          <a:lstStyle/>
          <a:p>
            <a:pPr algn="ctr">
              <a:defRPr sz="840">
                <a:solidFill>
                  <a:srgbClr val="232830"/>
                </a:solidFill>
              </a:defRPr>
            </a:pPr>
            <a:r>
              <a:rPr lang="en-IN" sz="1600" dirty="0" err="1">
                <a:solidFill>
                  <a:srgbClr val="232830"/>
                </a:solidFill>
              </a:rPr>
              <a:t>Works_for</a:t>
            </a:r>
            <a:endParaRPr sz="1600" dirty="0"/>
          </a:p>
        </p:txBody>
      </p:sp>
      <p:sp>
        <p:nvSpPr>
          <p:cNvPr id="14" name="Rectangle 13"/>
          <p:cNvSpPr/>
          <p:nvPr/>
        </p:nvSpPr>
        <p:spPr>
          <a:xfrm>
            <a:off x="4050781" y="2392346"/>
            <a:ext cx="2170522" cy="673432"/>
          </a:xfrm>
          <a:prstGeom prst="rect">
            <a:avLst/>
          </a:prstGeom>
          <a:solidFill>
            <a:srgbClr val="FFFFFF"/>
          </a:solidFill>
          <a:ln w="7620">
            <a:solidFill>
              <a:srgbClr val="437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rIns="73152" bIns="27432" rtlCol="0" anchor="ctr"/>
          <a:lstStyle/>
          <a:p>
            <a:pPr algn="ctr">
              <a:defRPr sz="819">
                <a:solidFill>
                  <a:srgbClr val="232830"/>
                </a:solidFill>
              </a:defRPr>
            </a:pPr>
            <a:r>
              <a:rPr lang="en-IN" sz="1600" dirty="0">
                <a:solidFill>
                  <a:srgbClr val="232830"/>
                </a:solidFill>
              </a:rPr>
              <a:t>Payment</a:t>
            </a:r>
            <a:endParaRPr sz="1600" dirty="0"/>
          </a:p>
        </p:txBody>
      </p:sp>
      <p:sp>
        <p:nvSpPr>
          <p:cNvPr id="15" name="Rectangle 14"/>
          <p:cNvSpPr/>
          <p:nvPr/>
        </p:nvSpPr>
        <p:spPr>
          <a:xfrm>
            <a:off x="8486127" y="2379751"/>
            <a:ext cx="3109552" cy="676095"/>
          </a:xfrm>
          <a:prstGeom prst="rect">
            <a:avLst/>
          </a:prstGeom>
          <a:solidFill>
            <a:srgbClr val="FFFFFF"/>
          </a:solidFill>
          <a:ln w="7620">
            <a:solidFill>
              <a:srgbClr val="437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rIns="73152" bIns="27432" rtlCol="0" anchor="ctr"/>
          <a:lstStyle/>
          <a:p>
            <a:pPr algn="ctr">
              <a:defRPr sz="840">
                <a:solidFill>
                  <a:srgbClr val="232830"/>
                </a:solidFill>
              </a:defRPr>
            </a:pPr>
            <a:r>
              <a:rPr lang="en-IN" sz="1600" dirty="0">
                <a:solidFill>
                  <a:srgbClr val="232830"/>
                </a:solidFill>
              </a:rPr>
              <a:t>One courier is associated with one payment record.</a:t>
            </a:r>
            <a:endParaRPr sz="1600" dirty="0"/>
          </a:p>
        </p:txBody>
      </p:sp>
      <p:sp>
        <p:nvSpPr>
          <p:cNvPr id="16" name="Rectangle 15"/>
          <p:cNvSpPr/>
          <p:nvPr/>
        </p:nvSpPr>
        <p:spPr>
          <a:xfrm>
            <a:off x="459330" y="3065778"/>
            <a:ext cx="1515045" cy="673432"/>
          </a:xfrm>
          <a:prstGeom prst="rect">
            <a:avLst/>
          </a:prstGeom>
          <a:solidFill>
            <a:srgbClr val="E9F0F9"/>
          </a:solidFill>
          <a:ln w="7620">
            <a:solidFill>
              <a:srgbClr val="437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rIns="73152" bIns="27432" rtlCol="0" anchor="ctr"/>
          <a:lstStyle/>
          <a:p>
            <a:pPr algn="ctr">
              <a:defRPr sz="840">
                <a:solidFill>
                  <a:srgbClr val="232830"/>
                </a:solidFill>
              </a:defRPr>
            </a:pPr>
            <a:r>
              <a:rPr lang="en-IN" sz="1600" dirty="0"/>
              <a:t>COURIER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26735" y="3073923"/>
            <a:ext cx="1945826" cy="655653"/>
          </a:xfrm>
          <a:prstGeom prst="rect">
            <a:avLst/>
          </a:prstGeom>
          <a:solidFill>
            <a:srgbClr val="E9F0F9"/>
          </a:solidFill>
          <a:ln w="7620">
            <a:solidFill>
              <a:srgbClr val="437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rIns="73152" bIns="27432" rtlCol="0" anchor="ctr"/>
          <a:lstStyle/>
          <a:p>
            <a:pPr algn="ctr">
              <a:defRPr sz="840">
                <a:solidFill>
                  <a:srgbClr val="232830"/>
                </a:solidFill>
              </a:defRPr>
            </a:pPr>
            <a:r>
              <a:rPr lang="en-IN" sz="1600" dirty="0"/>
              <a:t>Receives</a:t>
            </a:r>
            <a:endParaRPr sz="1600" dirty="0"/>
          </a:p>
        </p:txBody>
      </p:sp>
      <p:sp>
        <p:nvSpPr>
          <p:cNvPr id="18" name="Rectangle 17"/>
          <p:cNvSpPr/>
          <p:nvPr/>
        </p:nvSpPr>
        <p:spPr>
          <a:xfrm>
            <a:off x="4050781" y="3056144"/>
            <a:ext cx="2177207" cy="673432"/>
          </a:xfrm>
          <a:prstGeom prst="rect">
            <a:avLst/>
          </a:prstGeom>
          <a:solidFill>
            <a:srgbClr val="E9F0F9"/>
          </a:solidFill>
          <a:ln w="7620">
            <a:solidFill>
              <a:srgbClr val="437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rIns="73152" bIns="27432" rtlCol="0" anchor="ctr"/>
          <a:lstStyle/>
          <a:p>
            <a:pPr algn="ctr">
              <a:defRPr sz="819">
                <a:solidFill>
                  <a:srgbClr val="232830"/>
                </a:solidFill>
              </a:defRPr>
            </a:pPr>
            <a:r>
              <a:rPr lang="en-IN" sz="1600" dirty="0">
                <a:solidFill>
                  <a:srgbClr val="232830"/>
                </a:solidFill>
              </a:rPr>
              <a:t>Feedback</a:t>
            </a:r>
            <a:endParaRPr sz="1600" dirty="0"/>
          </a:p>
        </p:txBody>
      </p:sp>
      <p:sp>
        <p:nvSpPr>
          <p:cNvPr id="19" name="Rectangle 18"/>
          <p:cNvSpPr/>
          <p:nvPr/>
        </p:nvSpPr>
        <p:spPr>
          <a:xfrm>
            <a:off x="8483172" y="3056144"/>
            <a:ext cx="3119984" cy="673432"/>
          </a:xfrm>
          <a:prstGeom prst="rect">
            <a:avLst/>
          </a:prstGeom>
          <a:solidFill>
            <a:srgbClr val="E9F0F9"/>
          </a:solidFill>
          <a:ln w="7620">
            <a:solidFill>
              <a:srgbClr val="437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rIns="73152" bIns="27432" rtlCol="0" anchor="ctr"/>
          <a:lstStyle/>
          <a:p>
            <a:pPr algn="ctr">
              <a:defRPr sz="840">
                <a:solidFill>
                  <a:srgbClr val="232830"/>
                </a:solidFill>
              </a:defRPr>
            </a:pPr>
            <a:r>
              <a:rPr lang="en-IN" sz="1600" dirty="0">
                <a:solidFill>
                  <a:srgbClr val="232830"/>
                </a:solidFill>
              </a:rPr>
              <a:t>One courier receives one feedback record.</a:t>
            </a:r>
            <a:endParaRPr sz="1600" dirty="0"/>
          </a:p>
        </p:txBody>
      </p:sp>
      <p:sp>
        <p:nvSpPr>
          <p:cNvPr id="20" name="Rectangle 19"/>
          <p:cNvSpPr/>
          <p:nvPr/>
        </p:nvSpPr>
        <p:spPr>
          <a:xfrm>
            <a:off x="459331" y="3757220"/>
            <a:ext cx="1510864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437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rIns="73152" bIns="27432" rtlCol="0" anchor="ctr"/>
          <a:lstStyle/>
          <a:p>
            <a:pPr algn="ctr">
              <a:defRPr sz="840">
                <a:solidFill>
                  <a:srgbClr val="232830"/>
                </a:solidFill>
              </a:defRPr>
            </a:pPr>
            <a:r>
              <a:rPr lang="en-IN" sz="1600" dirty="0"/>
              <a:t>COURIER</a:t>
            </a:r>
          </a:p>
          <a:p>
            <a:pPr algn="ctr">
              <a:defRPr sz="840">
                <a:solidFill>
                  <a:srgbClr val="232830"/>
                </a:solidFill>
              </a:defRPr>
            </a:pPr>
            <a:endParaRPr sz="1600" dirty="0"/>
          </a:p>
        </p:txBody>
      </p:sp>
      <p:sp>
        <p:nvSpPr>
          <p:cNvPr id="21" name="Rectangle 20"/>
          <p:cNvSpPr/>
          <p:nvPr/>
        </p:nvSpPr>
        <p:spPr>
          <a:xfrm>
            <a:off x="2036721" y="3748058"/>
            <a:ext cx="1927828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437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rIns="73152" bIns="27432" rtlCol="0" anchor="ctr"/>
          <a:lstStyle/>
          <a:p>
            <a:pPr algn="ctr">
              <a:defRPr sz="840">
                <a:solidFill>
                  <a:srgbClr val="232830"/>
                </a:solidFill>
              </a:defRPr>
            </a:pPr>
            <a:r>
              <a:rPr lang="en-IN" sz="1600" dirty="0" err="1">
                <a:solidFill>
                  <a:srgbClr val="232830"/>
                </a:solidFill>
              </a:rPr>
              <a:t>Has_Tracking</a:t>
            </a:r>
            <a:endParaRPr sz="1600" dirty="0"/>
          </a:p>
        </p:txBody>
      </p:sp>
      <p:sp>
        <p:nvSpPr>
          <p:cNvPr id="22" name="Rectangle 21"/>
          <p:cNvSpPr/>
          <p:nvPr/>
        </p:nvSpPr>
        <p:spPr>
          <a:xfrm>
            <a:off x="4050781" y="3748058"/>
            <a:ext cx="2177207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437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rIns="73152" bIns="27432" rtlCol="0" anchor="ctr"/>
          <a:lstStyle/>
          <a:p>
            <a:pPr algn="ctr">
              <a:defRPr sz="819">
                <a:solidFill>
                  <a:srgbClr val="232830"/>
                </a:solidFill>
              </a:defRPr>
            </a:pPr>
            <a:r>
              <a:rPr lang="en-IN" sz="1600" dirty="0">
                <a:solidFill>
                  <a:srgbClr val="232830"/>
                </a:solidFill>
              </a:rPr>
              <a:t>Tracking</a:t>
            </a:r>
            <a:endParaRPr sz="1600" dirty="0"/>
          </a:p>
        </p:txBody>
      </p:sp>
      <p:sp>
        <p:nvSpPr>
          <p:cNvPr id="23" name="Rectangle 22"/>
          <p:cNvSpPr/>
          <p:nvPr/>
        </p:nvSpPr>
        <p:spPr>
          <a:xfrm>
            <a:off x="8483170" y="3767151"/>
            <a:ext cx="3119985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437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rIns="73152" bIns="27432" rtlCol="0" anchor="ctr"/>
          <a:lstStyle/>
          <a:p>
            <a:pPr algn="ctr">
              <a:defRPr sz="840">
                <a:solidFill>
                  <a:srgbClr val="232830"/>
                </a:solidFill>
              </a:defRPr>
            </a:pPr>
            <a:r>
              <a:rPr lang="en-IN" sz="1600" dirty="0">
                <a:solidFill>
                  <a:srgbClr val="232830"/>
                </a:solidFill>
              </a:rPr>
              <a:t>One courier can have multiple tracking updates.</a:t>
            </a:r>
            <a:endParaRPr sz="1600" dirty="0"/>
          </a:p>
        </p:txBody>
      </p:sp>
      <p:sp>
        <p:nvSpPr>
          <p:cNvPr id="24" name="Rectangle 23"/>
          <p:cNvSpPr/>
          <p:nvPr/>
        </p:nvSpPr>
        <p:spPr>
          <a:xfrm>
            <a:off x="454569" y="4260140"/>
            <a:ext cx="1518810" cy="502920"/>
          </a:xfrm>
          <a:prstGeom prst="rect">
            <a:avLst/>
          </a:prstGeom>
          <a:solidFill>
            <a:srgbClr val="E9F0F9"/>
          </a:solidFill>
          <a:ln w="7620">
            <a:solidFill>
              <a:srgbClr val="437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rIns="73152" bIns="27432" rtlCol="0" anchor="ctr"/>
          <a:lstStyle/>
          <a:p>
            <a:pPr algn="ctr">
              <a:defRPr sz="840">
                <a:solidFill>
                  <a:srgbClr val="232830"/>
                </a:solidFill>
              </a:defRPr>
            </a:pPr>
            <a:r>
              <a:rPr lang="en-IN" sz="1600">
                <a:solidFill>
                  <a:srgbClr val="232830"/>
                </a:solidFill>
              </a:rPr>
              <a:t>Delivery Agent</a:t>
            </a:r>
            <a:endParaRPr lang="en-IN" sz="1600" dirty="0"/>
          </a:p>
        </p:txBody>
      </p:sp>
      <p:sp>
        <p:nvSpPr>
          <p:cNvPr id="25" name="Rectangle 24"/>
          <p:cNvSpPr/>
          <p:nvPr/>
        </p:nvSpPr>
        <p:spPr>
          <a:xfrm>
            <a:off x="2036720" y="4278217"/>
            <a:ext cx="1927827" cy="493599"/>
          </a:xfrm>
          <a:prstGeom prst="rect">
            <a:avLst/>
          </a:prstGeom>
          <a:solidFill>
            <a:srgbClr val="E9F0F9"/>
          </a:solidFill>
          <a:ln w="7620">
            <a:solidFill>
              <a:srgbClr val="437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rIns="73152" bIns="27432" rtlCol="0" anchor="ctr"/>
          <a:lstStyle/>
          <a:p>
            <a:pPr algn="ctr">
              <a:defRPr sz="840">
                <a:solidFill>
                  <a:srgbClr val="232830"/>
                </a:solidFill>
              </a:defRPr>
            </a:pPr>
            <a:r>
              <a:rPr lang="en-IN" sz="1600" dirty="0">
                <a:solidFill>
                  <a:srgbClr val="232830"/>
                </a:solidFill>
              </a:rPr>
              <a:t>Delivers</a:t>
            </a:r>
            <a:endParaRPr sz="1600" dirty="0"/>
          </a:p>
        </p:txBody>
      </p:sp>
      <p:sp>
        <p:nvSpPr>
          <p:cNvPr id="26" name="Rectangle 25"/>
          <p:cNvSpPr/>
          <p:nvPr/>
        </p:nvSpPr>
        <p:spPr>
          <a:xfrm>
            <a:off x="4051982" y="4250114"/>
            <a:ext cx="2176006" cy="502920"/>
          </a:xfrm>
          <a:prstGeom prst="rect">
            <a:avLst/>
          </a:prstGeom>
          <a:solidFill>
            <a:srgbClr val="E9F0F9"/>
          </a:solidFill>
          <a:ln w="7620">
            <a:solidFill>
              <a:srgbClr val="437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rIns="73152" bIns="27432" rtlCol="0" anchor="ctr"/>
          <a:lstStyle/>
          <a:p>
            <a:pPr algn="ctr">
              <a:defRPr sz="819">
                <a:solidFill>
                  <a:srgbClr val="232830"/>
                </a:solidFill>
              </a:defRPr>
            </a:pPr>
            <a:r>
              <a:rPr lang="en-IN" sz="1600" dirty="0">
                <a:solidFill>
                  <a:srgbClr val="232830"/>
                </a:solidFill>
              </a:rPr>
              <a:t>Courier</a:t>
            </a:r>
            <a:endParaRPr sz="1600" dirty="0"/>
          </a:p>
        </p:txBody>
      </p:sp>
      <p:sp>
        <p:nvSpPr>
          <p:cNvPr id="27" name="Rectangle 26"/>
          <p:cNvSpPr/>
          <p:nvPr/>
        </p:nvSpPr>
        <p:spPr>
          <a:xfrm>
            <a:off x="8490259" y="4269385"/>
            <a:ext cx="3126670" cy="479734"/>
          </a:xfrm>
          <a:prstGeom prst="rect">
            <a:avLst/>
          </a:prstGeom>
          <a:solidFill>
            <a:srgbClr val="E9F0F9"/>
          </a:solidFill>
          <a:ln w="7620">
            <a:solidFill>
              <a:srgbClr val="437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rIns="73152" bIns="27432" rtlCol="0" anchor="ctr"/>
          <a:lstStyle/>
          <a:p>
            <a:pPr algn="ctr">
              <a:defRPr sz="840">
                <a:solidFill>
                  <a:srgbClr val="232830"/>
                </a:solidFill>
              </a:defRPr>
            </a:pPr>
            <a:r>
              <a:rPr lang="en-IN" sz="1600" dirty="0">
                <a:solidFill>
                  <a:srgbClr val="232830"/>
                </a:solidFill>
              </a:rPr>
              <a:t>One delivery agent can deliver multiple couriers.</a:t>
            </a:r>
            <a:endParaRPr sz="1600" dirty="0"/>
          </a:p>
        </p:txBody>
      </p:sp>
      <p:sp>
        <p:nvSpPr>
          <p:cNvPr id="30" name="TextBox 29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069"/>
                </a:solidFill>
              </a:defRPr>
            </a:pPr>
            <a:r>
              <a:t>DBMS Cornerstone Project  |  Courier Management System</a:t>
            </a:r>
          </a:p>
        </p:txBody>
      </p:sp>
      <p:pic>
        <p:nvPicPr>
          <p:cNvPr id="33" name="Picture 2" descr="C:\Users\My\Desktop\Capture 1.PNG">
            <a:extLst>
              <a:ext uri="{FF2B5EF4-FFF2-40B4-BE49-F238E27FC236}">
                <a16:creationId xmlns:a16="http://schemas.microsoft.com/office/drawing/2014/main" id="{746F4A8A-5606-B8F7-F508-2918FCDBA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755112" cy="682544"/>
          </a:xfrm>
          <a:prstGeom prst="rect">
            <a:avLst/>
          </a:prstGeom>
          <a:noFill/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3C68765B-F48F-AE0C-7B05-227D9842676B}"/>
              </a:ext>
            </a:extLst>
          </p:cNvPr>
          <p:cNvSpPr/>
          <p:nvPr/>
        </p:nvSpPr>
        <p:spPr>
          <a:xfrm>
            <a:off x="6245414" y="1194030"/>
            <a:ext cx="2186877" cy="401425"/>
          </a:xfrm>
          <a:prstGeom prst="rect">
            <a:avLst/>
          </a:prstGeom>
          <a:solidFill>
            <a:srgbClr val="254274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lang="en-US" sz="1600" dirty="0"/>
              <a:t>Cardinality</a:t>
            </a:r>
            <a:endParaRPr sz="16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70BA4BD-5B99-0BB1-6180-553D51D49DE2}"/>
              </a:ext>
            </a:extLst>
          </p:cNvPr>
          <p:cNvSpPr/>
          <p:nvPr/>
        </p:nvSpPr>
        <p:spPr>
          <a:xfrm>
            <a:off x="6261769" y="1892021"/>
            <a:ext cx="2170522" cy="501378"/>
          </a:xfrm>
          <a:prstGeom prst="rect">
            <a:avLst/>
          </a:prstGeom>
          <a:solidFill>
            <a:srgbClr val="E9F0F9"/>
          </a:solidFill>
          <a:ln w="7620">
            <a:solidFill>
              <a:srgbClr val="437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rIns="73152" bIns="27432" rtlCol="0" anchor="ctr"/>
          <a:lstStyle/>
          <a:p>
            <a:pPr algn="ctr">
              <a:defRPr sz="819">
                <a:solidFill>
                  <a:srgbClr val="232830"/>
                </a:solidFill>
              </a:defRPr>
            </a:pPr>
            <a:r>
              <a:rPr sz="1600" dirty="0"/>
              <a:t>1 : 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86D221E-C62E-6EEB-3E7F-189DD45BE0A6}"/>
              </a:ext>
            </a:extLst>
          </p:cNvPr>
          <p:cNvSpPr/>
          <p:nvPr/>
        </p:nvSpPr>
        <p:spPr>
          <a:xfrm>
            <a:off x="6268454" y="2400056"/>
            <a:ext cx="2170522" cy="658011"/>
          </a:xfrm>
          <a:prstGeom prst="rect">
            <a:avLst/>
          </a:prstGeom>
          <a:solidFill>
            <a:srgbClr val="FFFFFF"/>
          </a:solidFill>
          <a:ln w="7620">
            <a:solidFill>
              <a:srgbClr val="437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rIns="73152" bIns="27432" rtlCol="0" anchor="ctr"/>
          <a:lstStyle/>
          <a:p>
            <a:pPr algn="ctr">
              <a:defRPr sz="819">
                <a:solidFill>
                  <a:srgbClr val="232830"/>
                </a:solidFill>
              </a:defRPr>
            </a:pPr>
            <a:r>
              <a:rPr sz="1600" dirty="0"/>
              <a:t>1 : 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5BEDEF8-84C7-8DE4-0AEA-E5A3A8E38BC8}"/>
              </a:ext>
            </a:extLst>
          </p:cNvPr>
          <p:cNvSpPr/>
          <p:nvPr/>
        </p:nvSpPr>
        <p:spPr>
          <a:xfrm>
            <a:off x="6279271" y="3065778"/>
            <a:ext cx="2159705" cy="658011"/>
          </a:xfrm>
          <a:prstGeom prst="rect">
            <a:avLst/>
          </a:prstGeom>
          <a:solidFill>
            <a:srgbClr val="E9F0F9"/>
          </a:solidFill>
          <a:ln w="7620">
            <a:solidFill>
              <a:srgbClr val="437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rIns="73152" bIns="27432" rtlCol="0" anchor="ctr"/>
          <a:lstStyle/>
          <a:p>
            <a:pPr algn="ctr">
              <a:defRPr sz="819">
                <a:solidFill>
                  <a:srgbClr val="232830"/>
                </a:solidFill>
              </a:defRPr>
            </a:pPr>
            <a:r>
              <a:rPr sz="1600" dirty="0"/>
              <a:t>1 : M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877CBD9-28D4-F64C-0906-98C8A7C16144}"/>
              </a:ext>
            </a:extLst>
          </p:cNvPr>
          <p:cNvSpPr/>
          <p:nvPr/>
        </p:nvSpPr>
        <p:spPr>
          <a:xfrm>
            <a:off x="6280068" y="3746921"/>
            <a:ext cx="2158908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437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rIns="73152" bIns="27432" rtlCol="0" anchor="ctr"/>
          <a:lstStyle/>
          <a:p>
            <a:pPr algn="ctr">
              <a:defRPr sz="819">
                <a:solidFill>
                  <a:srgbClr val="232830"/>
                </a:solidFill>
              </a:defRPr>
            </a:pPr>
            <a:r>
              <a:rPr sz="1600" dirty="0"/>
              <a:t>1 : 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88E927C-1D0B-A595-8E3F-106AED52DA6A}"/>
              </a:ext>
            </a:extLst>
          </p:cNvPr>
          <p:cNvSpPr/>
          <p:nvPr/>
        </p:nvSpPr>
        <p:spPr>
          <a:xfrm>
            <a:off x="6279272" y="4246568"/>
            <a:ext cx="2153019" cy="502920"/>
          </a:xfrm>
          <a:prstGeom prst="rect">
            <a:avLst/>
          </a:prstGeom>
          <a:solidFill>
            <a:srgbClr val="E9F0F9"/>
          </a:solidFill>
          <a:ln w="7620">
            <a:solidFill>
              <a:srgbClr val="437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rIns="73152" bIns="27432" rtlCol="0" anchor="ctr"/>
          <a:lstStyle/>
          <a:p>
            <a:pPr algn="ctr">
              <a:defRPr sz="819">
                <a:solidFill>
                  <a:srgbClr val="232830"/>
                </a:solidFill>
              </a:defRPr>
            </a:pPr>
            <a:r>
              <a:rPr sz="1600" dirty="0"/>
              <a:t>1 :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22B07B9-4C22-6989-5B31-706E56BD9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07" y="4005604"/>
            <a:ext cx="4595575" cy="23392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D8BA4D-9B6F-D121-CB4A-B1C3FADBE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07" y="1832897"/>
            <a:ext cx="4483510" cy="21727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65EF393-F321-2F8C-4619-F5F0FF720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6123" y="1832897"/>
            <a:ext cx="3215919" cy="21727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60B313F-1BA2-BABD-8D98-6E49617D71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6123" y="4027984"/>
            <a:ext cx="3215918" cy="233922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128ADAB-75C5-1B2E-CFFD-9C2F430DDDAF}"/>
              </a:ext>
            </a:extLst>
          </p:cNvPr>
          <p:cNvSpPr txBox="1"/>
          <p:nvPr/>
        </p:nvSpPr>
        <p:spPr>
          <a:xfrm>
            <a:off x="1754188" y="1319723"/>
            <a:ext cx="2266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1.CUSTOMER TABLE</a:t>
            </a:r>
            <a:endParaRPr lang="en-IN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76F49B-F8A6-5B4F-6902-B8341F27783B}"/>
              </a:ext>
            </a:extLst>
          </p:cNvPr>
          <p:cNvSpPr txBox="1"/>
          <p:nvPr/>
        </p:nvSpPr>
        <p:spPr>
          <a:xfrm>
            <a:off x="7376172" y="1386285"/>
            <a:ext cx="2866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2.DELIVERY AGENT TABLE</a:t>
            </a:r>
            <a:endParaRPr lang="en-IN" b="1"/>
          </a:p>
        </p:txBody>
      </p:sp>
      <p:sp>
        <p:nvSpPr>
          <p:cNvPr id="30" name="Google Shape;1162;p13">
            <a:extLst>
              <a:ext uri="{FF2B5EF4-FFF2-40B4-BE49-F238E27FC236}">
                <a16:creationId xmlns:a16="http://schemas.microsoft.com/office/drawing/2014/main" id="{D848C064-6DCF-FC11-657C-D576FEEC03F0}"/>
              </a:ext>
            </a:extLst>
          </p:cNvPr>
          <p:cNvSpPr txBox="1"/>
          <p:nvPr/>
        </p:nvSpPr>
        <p:spPr>
          <a:xfrm>
            <a:off x="3013138" y="309116"/>
            <a:ext cx="58794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ENTITY SETS TO TABLES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49242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232C996-2150-88D4-CB39-1E6843CC3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103" y="767901"/>
            <a:ext cx="3013853" cy="28011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0B113D-5475-78FA-A594-F00068848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587" y="833215"/>
            <a:ext cx="7049111" cy="24919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579BA0-835F-351D-7172-A47594D006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6587" y="4287473"/>
            <a:ext cx="2972058" cy="22252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077B87-E184-35B8-2CC1-99B0B9303F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093" y="4116636"/>
            <a:ext cx="3985605" cy="24462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3899A5F-ABAB-642E-1B18-87D48CB148EA}"/>
              </a:ext>
            </a:extLst>
          </p:cNvPr>
          <p:cNvSpPr txBox="1"/>
          <p:nvPr/>
        </p:nvSpPr>
        <p:spPr>
          <a:xfrm>
            <a:off x="606491" y="398569"/>
            <a:ext cx="2097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3. COURIER TABLE</a:t>
            </a:r>
            <a:endParaRPr lang="en-IN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0466C8-8788-5B5D-823C-1D26F946EE4B}"/>
              </a:ext>
            </a:extLst>
          </p:cNvPr>
          <p:cNvSpPr txBox="1"/>
          <p:nvPr/>
        </p:nvSpPr>
        <p:spPr>
          <a:xfrm>
            <a:off x="2540965" y="4102807"/>
            <a:ext cx="2063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4.PAYMENT TABLE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3920722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1FE7FBA-19B0-66D2-B5B4-5BA44D9DB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15" y="836874"/>
            <a:ext cx="4028316" cy="27205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AB3B67-EACB-FEF7-9FCF-CF9C9473F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74" y="3676542"/>
            <a:ext cx="4099799" cy="27585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70614F-5232-8D06-A153-3523F39D9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5894" y="1026700"/>
            <a:ext cx="4326085" cy="25307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FE8C6D-26B0-65B4-F11E-0A09E5B8C0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5894" y="3508311"/>
            <a:ext cx="4326086" cy="29267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C52263B-F22A-E5F6-324C-3A73E76DE818}"/>
              </a:ext>
            </a:extLst>
          </p:cNvPr>
          <p:cNvSpPr txBox="1"/>
          <p:nvPr/>
        </p:nvSpPr>
        <p:spPr>
          <a:xfrm>
            <a:off x="556063" y="407996"/>
            <a:ext cx="2204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5.FEEDBACK TABLE</a:t>
            </a:r>
            <a:endParaRPr lang="en-IN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8D524C-11C7-719D-23CA-7CA865216026}"/>
              </a:ext>
            </a:extLst>
          </p:cNvPr>
          <p:cNvSpPr txBox="1"/>
          <p:nvPr/>
        </p:nvSpPr>
        <p:spPr>
          <a:xfrm>
            <a:off x="6969967" y="467542"/>
            <a:ext cx="2158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6.TRACKING TABLE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3298965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CDD5BD0-865F-A66B-BEDC-2CAE5CB6EED9}"/>
              </a:ext>
            </a:extLst>
          </p:cNvPr>
          <p:cNvSpPr txBox="1"/>
          <p:nvPr/>
        </p:nvSpPr>
        <p:spPr>
          <a:xfrm>
            <a:off x="701040" y="1234440"/>
            <a:ext cx="3346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1. Display all customer details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C70AA1-A1A1-6F09-E2C3-B1AE7B91E72B}"/>
              </a:ext>
            </a:extLst>
          </p:cNvPr>
          <p:cNvSpPr txBox="1"/>
          <p:nvPr/>
        </p:nvSpPr>
        <p:spPr>
          <a:xfrm>
            <a:off x="701040" y="1750814"/>
            <a:ext cx="6217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SELECT *FROM CUSTOMER;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8691E8-A138-62A7-CB36-E6B534A5E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" y="2411600"/>
            <a:ext cx="3855719" cy="37910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2E9B2AA-938C-0801-5F03-BA5156D21B74}"/>
              </a:ext>
            </a:extLst>
          </p:cNvPr>
          <p:cNvSpPr txBox="1"/>
          <p:nvPr/>
        </p:nvSpPr>
        <p:spPr>
          <a:xfrm>
            <a:off x="4813372" y="1259182"/>
            <a:ext cx="535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2. Find all customers whose address is Hyderabad</a:t>
            </a:r>
            <a:endParaRPr lang="en-IN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FB4946-121C-0051-8238-7A9F6AA97CEA}"/>
              </a:ext>
            </a:extLst>
          </p:cNvPr>
          <p:cNvSpPr txBox="1"/>
          <p:nvPr/>
        </p:nvSpPr>
        <p:spPr>
          <a:xfrm>
            <a:off x="4813372" y="1419106"/>
            <a:ext cx="62179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/>
          </a:p>
          <a:p>
            <a:r>
              <a:rPr lang="en-IN"/>
              <a:t>SELECT CUSTOMER_ID, NAME, PHONE</a:t>
            </a:r>
          </a:p>
          <a:p>
            <a:r>
              <a:rPr lang="en-IN"/>
              <a:t>FROM CUSTOMER</a:t>
            </a:r>
          </a:p>
          <a:p>
            <a:r>
              <a:rPr lang="en-IN"/>
              <a:t>WHERE ADDRESS = 'Hyderabad';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4833B19-3B75-EBB1-BD85-C281356EC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801" y="1723634"/>
            <a:ext cx="2898800" cy="93174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14381C0-2C73-A766-0007-847BC55B459D}"/>
              </a:ext>
            </a:extLst>
          </p:cNvPr>
          <p:cNvSpPr txBox="1"/>
          <p:nvPr/>
        </p:nvSpPr>
        <p:spPr>
          <a:xfrm>
            <a:off x="4813372" y="2959908"/>
            <a:ext cx="4679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3. Display couriers weighing more than 3 kg</a:t>
            </a:r>
            <a:endParaRPr lang="en-IN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9BFEEA-0860-91BD-D45E-B1005E2640BB}"/>
              </a:ext>
            </a:extLst>
          </p:cNvPr>
          <p:cNvSpPr txBox="1"/>
          <p:nvPr/>
        </p:nvSpPr>
        <p:spPr>
          <a:xfrm>
            <a:off x="4922520" y="3069548"/>
            <a:ext cx="62179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/>
          </a:p>
          <a:p>
            <a:r>
              <a:rPr lang="en-IN"/>
              <a:t>SELECT COURIER_ID, SOURCE, DESTINATION, WEIGHT</a:t>
            </a:r>
          </a:p>
          <a:p>
            <a:r>
              <a:rPr lang="en-IN"/>
              <a:t>FROM COURIER</a:t>
            </a:r>
          </a:p>
          <a:p>
            <a:r>
              <a:rPr lang="en-IN"/>
              <a:t>WHERE WEIGHT &gt; 3;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BA3D51F-14A7-05A0-F857-0A546F136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001" y="4379517"/>
            <a:ext cx="5410200" cy="1691697"/>
          </a:xfrm>
          <a:prstGeom prst="rect">
            <a:avLst/>
          </a:prstGeom>
        </p:spPr>
      </p:pic>
      <p:sp>
        <p:nvSpPr>
          <p:cNvPr id="30" name="Google Shape;1162;p13">
            <a:extLst>
              <a:ext uri="{FF2B5EF4-FFF2-40B4-BE49-F238E27FC236}">
                <a16:creationId xmlns:a16="http://schemas.microsoft.com/office/drawing/2014/main" id="{4072A5EC-238D-AD4E-A842-A1A835359EF5}"/>
              </a:ext>
            </a:extLst>
          </p:cNvPr>
          <p:cNvSpPr txBox="1"/>
          <p:nvPr/>
        </p:nvSpPr>
        <p:spPr>
          <a:xfrm>
            <a:off x="2706700" y="300763"/>
            <a:ext cx="58794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QUERIES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99430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CBFB73-48DA-3A2C-165A-EE9A6B587DC1}"/>
              </a:ext>
            </a:extLst>
          </p:cNvPr>
          <p:cNvSpPr txBox="1"/>
          <p:nvPr/>
        </p:nvSpPr>
        <p:spPr>
          <a:xfrm>
            <a:off x="563880" y="441960"/>
            <a:ext cx="3501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4. Display all pending payments</a:t>
            </a:r>
            <a:endParaRPr lang="en-IN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4049DF-2B02-DEA9-1B6F-44FD8606B443}"/>
              </a:ext>
            </a:extLst>
          </p:cNvPr>
          <p:cNvSpPr txBox="1"/>
          <p:nvPr/>
        </p:nvSpPr>
        <p:spPr>
          <a:xfrm>
            <a:off x="457200" y="62662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/>
          </a:p>
          <a:p>
            <a:r>
              <a:rPr lang="en-IN"/>
              <a:t>SELECT PAYMENT_ID, COURIER_ID, AMOUNT, PAYMENT_MODE</a:t>
            </a:r>
          </a:p>
          <a:p>
            <a:r>
              <a:rPr lang="en-IN"/>
              <a:t>FROM PAYMENT</a:t>
            </a:r>
          </a:p>
          <a:p>
            <a:r>
              <a:rPr lang="en-IN"/>
              <a:t>WHERE PAYMENT_STATUS = 'PENDING';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303D0E-2484-6138-4509-3654D240E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761" y="718959"/>
            <a:ext cx="4724400" cy="12926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7FB19D-0F33-935A-FE15-E25B02E8C5B2}"/>
              </a:ext>
            </a:extLst>
          </p:cNvPr>
          <p:cNvSpPr txBox="1"/>
          <p:nvPr/>
        </p:nvSpPr>
        <p:spPr>
          <a:xfrm>
            <a:off x="457200" y="3631738"/>
            <a:ext cx="3466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6. Display all delivered couriers</a:t>
            </a:r>
            <a:endParaRPr lang="en-IN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0E8751-D3D0-ADFC-F59C-72691F5C3DC9}"/>
              </a:ext>
            </a:extLst>
          </p:cNvPr>
          <p:cNvSpPr txBox="1"/>
          <p:nvPr/>
        </p:nvSpPr>
        <p:spPr>
          <a:xfrm>
            <a:off x="457200" y="383605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/>
          </a:p>
          <a:p>
            <a:r>
              <a:rPr lang="en-IN"/>
              <a:t>SELECT COURIER_ID, LOCATION, STATUS</a:t>
            </a:r>
          </a:p>
          <a:p>
            <a:r>
              <a:rPr lang="en-IN"/>
              <a:t>FROM TRACKING</a:t>
            </a:r>
          </a:p>
          <a:p>
            <a:r>
              <a:rPr lang="en-IN"/>
              <a:t>WHERE STATUS = 'Delivered';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EC2E74-7F81-3A83-171D-53F0CC972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" y="5066859"/>
            <a:ext cx="2705307" cy="116451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6FB9908-4435-9085-F4E2-FE2B93C398C9}"/>
              </a:ext>
            </a:extLst>
          </p:cNvPr>
          <p:cNvSpPr txBox="1"/>
          <p:nvPr/>
        </p:nvSpPr>
        <p:spPr>
          <a:xfrm>
            <a:off x="4876801" y="2308266"/>
            <a:ext cx="5247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5. Display couriers in descending order of weight</a:t>
            </a:r>
            <a:endParaRPr lang="en-IN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7982D6-D5FE-0A35-C905-279EF677147C}"/>
              </a:ext>
            </a:extLst>
          </p:cNvPr>
          <p:cNvSpPr txBox="1"/>
          <p:nvPr/>
        </p:nvSpPr>
        <p:spPr>
          <a:xfrm>
            <a:off x="4785360" y="2533565"/>
            <a:ext cx="34515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/>
          </a:p>
          <a:p>
            <a:r>
              <a:rPr lang="en-IN"/>
              <a:t>SELECT COURIER_ID, SOURCE, DESTINATION, WEIGHT</a:t>
            </a:r>
          </a:p>
          <a:p>
            <a:r>
              <a:rPr lang="en-IN"/>
              <a:t>FROM COURIER</a:t>
            </a:r>
          </a:p>
          <a:p>
            <a:r>
              <a:rPr lang="en-IN"/>
              <a:t>ORDER BY WEIGHT DESC;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FB8E5A4-EB43-0E8C-F5E5-8F5F73618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926" y="2881910"/>
            <a:ext cx="3391194" cy="30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893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894DF83-5C6A-E2B8-2B78-E0F98973225B}"/>
              </a:ext>
            </a:extLst>
          </p:cNvPr>
          <p:cNvSpPr txBox="1"/>
          <p:nvPr/>
        </p:nvSpPr>
        <p:spPr>
          <a:xfrm>
            <a:off x="640080" y="365760"/>
            <a:ext cx="3844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7. Find the total number of couriers</a:t>
            </a:r>
            <a:endParaRPr lang="en-IN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BDC98B-7852-A174-7E0E-8068228D9E2F}"/>
              </a:ext>
            </a:extLst>
          </p:cNvPr>
          <p:cNvSpPr txBox="1"/>
          <p:nvPr/>
        </p:nvSpPr>
        <p:spPr>
          <a:xfrm>
            <a:off x="640080" y="55042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/>
          </a:p>
          <a:p>
            <a:r>
              <a:rPr lang="en-IN"/>
              <a:t>SELECT COUNT(*) AS TOTAL_COURIERS</a:t>
            </a:r>
          </a:p>
          <a:p>
            <a:r>
              <a:rPr lang="en-IN"/>
              <a:t>FROM COURIER;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E91A5A-D3FA-B2AB-5758-B7F214789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46192"/>
            <a:ext cx="2913034" cy="8198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4202EE-A6D4-10FA-126C-6D7470766C86}"/>
              </a:ext>
            </a:extLst>
          </p:cNvPr>
          <p:cNvSpPr txBox="1"/>
          <p:nvPr/>
        </p:nvSpPr>
        <p:spPr>
          <a:xfrm>
            <a:off x="6666577" y="361564"/>
            <a:ext cx="5603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8. Display customer name along with courier details</a:t>
            </a:r>
            <a:endParaRPr lang="en-IN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677E6B-CBC7-FC10-B187-57277D44BA8C}"/>
              </a:ext>
            </a:extLst>
          </p:cNvPr>
          <p:cNvSpPr txBox="1"/>
          <p:nvPr/>
        </p:nvSpPr>
        <p:spPr>
          <a:xfrm>
            <a:off x="6666577" y="500064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/>
          </a:p>
          <a:p>
            <a:r>
              <a:rPr lang="en-IN"/>
              <a:t>SELECT C.NAME AS CUSTOMER_NAME,</a:t>
            </a:r>
          </a:p>
          <a:p>
            <a:r>
              <a:rPr lang="en-IN"/>
              <a:t>       CR.COURIER_ID,</a:t>
            </a:r>
          </a:p>
          <a:p>
            <a:r>
              <a:rPr lang="en-IN"/>
              <a:t>       CR.SOURCE,</a:t>
            </a:r>
          </a:p>
          <a:p>
            <a:r>
              <a:rPr lang="en-IN"/>
              <a:t>       CR.DESTINATION</a:t>
            </a:r>
          </a:p>
          <a:p>
            <a:r>
              <a:rPr lang="en-IN"/>
              <a:t>FROM CUSTOMER C</a:t>
            </a:r>
          </a:p>
          <a:p>
            <a:r>
              <a:rPr lang="en-IN"/>
              <a:t>JOIN COURIER CR</a:t>
            </a:r>
          </a:p>
          <a:p>
            <a:r>
              <a:rPr lang="en-IN"/>
              <a:t>ON C.CUSTOMER_ID = CR.CUSTOMER_ID;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B683D8C-1CED-BE07-E350-1F5323017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080" y="2959263"/>
            <a:ext cx="4319817" cy="323781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2E1B358-1655-0C45-8113-DF31B32DB634}"/>
              </a:ext>
            </a:extLst>
          </p:cNvPr>
          <p:cNvSpPr txBox="1"/>
          <p:nvPr/>
        </p:nvSpPr>
        <p:spPr>
          <a:xfrm>
            <a:off x="441960" y="2623722"/>
            <a:ext cx="4986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9.  Count couriers according to tracking status</a:t>
            </a:r>
            <a:endParaRPr lang="en-IN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FBB02D-5025-6D9F-3758-3096A4B1402F}"/>
              </a:ext>
            </a:extLst>
          </p:cNvPr>
          <p:cNvSpPr txBox="1"/>
          <p:nvPr/>
        </p:nvSpPr>
        <p:spPr>
          <a:xfrm>
            <a:off x="533862" y="2777330"/>
            <a:ext cx="63779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/>
          </a:p>
          <a:p>
            <a:r>
              <a:rPr lang="en-IN"/>
              <a:t>SELECT STATUS,</a:t>
            </a:r>
          </a:p>
          <a:p>
            <a:r>
              <a:rPr lang="en-IN"/>
              <a:t>       COUNT(*) AS TOTAL_COURIERS</a:t>
            </a:r>
          </a:p>
          <a:p>
            <a:r>
              <a:rPr lang="en-IN"/>
              <a:t>FROM TRACKING</a:t>
            </a:r>
          </a:p>
          <a:p>
            <a:r>
              <a:rPr lang="en-IN"/>
              <a:t>GROUP BY STATUS;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BC487FD-4E6B-DE6D-AB20-2CCFB210A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862" y="4408266"/>
            <a:ext cx="3651120" cy="137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97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AA30EF5-56B3-0554-1C9B-498E7B9DA296}"/>
              </a:ext>
            </a:extLst>
          </p:cNvPr>
          <p:cNvSpPr txBox="1"/>
          <p:nvPr/>
        </p:nvSpPr>
        <p:spPr>
          <a:xfrm>
            <a:off x="365760" y="258211"/>
            <a:ext cx="6008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10.Display customer, courier and payment details</a:t>
            </a:r>
            <a:endParaRPr lang="en-IN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936E7A-A41B-2FBC-5C97-3F28FCEAF597}"/>
              </a:ext>
            </a:extLst>
          </p:cNvPr>
          <p:cNvSpPr txBox="1"/>
          <p:nvPr/>
        </p:nvSpPr>
        <p:spPr>
          <a:xfrm>
            <a:off x="300990" y="549105"/>
            <a:ext cx="55816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/>
          </a:p>
          <a:p>
            <a:r>
              <a:rPr lang="en-IN"/>
              <a:t>SELECT C.NAME AS CUSTOMER_NAME,</a:t>
            </a:r>
          </a:p>
          <a:p>
            <a:r>
              <a:rPr lang="en-IN"/>
              <a:t>       CR.COURIER_ID,</a:t>
            </a:r>
          </a:p>
          <a:p>
            <a:r>
              <a:rPr lang="en-IN"/>
              <a:t>       CR.DESTINATION,</a:t>
            </a:r>
          </a:p>
          <a:p>
            <a:r>
              <a:rPr lang="en-IN"/>
              <a:t>       P.AMOUNT,</a:t>
            </a:r>
          </a:p>
          <a:p>
            <a:r>
              <a:rPr lang="en-IN"/>
              <a:t>       P.PAYMENT_STATUS</a:t>
            </a:r>
          </a:p>
          <a:p>
            <a:r>
              <a:rPr lang="en-IN"/>
              <a:t>FROM CUSTOMER C</a:t>
            </a:r>
          </a:p>
          <a:p>
            <a:r>
              <a:rPr lang="en-IN"/>
              <a:t>JOIN COURIER CR</a:t>
            </a:r>
          </a:p>
          <a:p>
            <a:r>
              <a:rPr lang="en-IN"/>
              <a:t>ON C.CUSTOMER_ID = CR.CUSTOMER_ID</a:t>
            </a:r>
          </a:p>
          <a:p>
            <a:r>
              <a:rPr lang="en-IN"/>
              <a:t>JOIN PAYMENT P</a:t>
            </a:r>
          </a:p>
          <a:p>
            <a:r>
              <a:rPr lang="en-IN"/>
              <a:t>ON CR.COURIER_ID = P.COURIER_ID;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6911BB-5071-0174-A715-AE00AF830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265" y="412397"/>
            <a:ext cx="5815795" cy="33976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BCFB1B3-E95B-B064-C715-6E1D5620D6AD}"/>
              </a:ext>
            </a:extLst>
          </p:cNvPr>
          <p:cNvSpPr txBox="1"/>
          <p:nvPr/>
        </p:nvSpPr>
        <p:spPr>
          <a:xfrm>
            <a:off x="365760" y="3979320"/>
            <a:ext cx="5832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11. Find total payment amount for each payment mode</a:t>
            </a:r>
            <a:endParaRPr lang="en-IN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A09B4D-07B7-B780-121F-ABFD99017719}"/>
              </a:ext>
            </a:extLst>
          </p:cNvPr>
          <p:cNvSpPr txBox="1"/>
          <p:nvPr/>
        </p:nvSpPr>
        <p:spPr>
          <a:xfrm>
            <a:off x="365760" y="4336878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/>
          </a:p>
          <a:p>
            <a:r>
              <a:rPr lang="en-IN"/>
              <a:t>SELECT PAYMENT_MODE,</a:t>
            </a:r>
          </a:p>
          <a:p>
            <a:r>
              <a:rPr lang="en-IN"/>
              <a:t>       SUM(AMOUNT) AS TOTAL_AMOUNT</a:t>
            </a:r>
          </a:p>
          <a:p>
            <a:r>
              <a:rPr lang="en-IN"/>
              <a:t>FROM PAYMENT</a:t>
            </a:r>
          </a:p>
          <a:p>
            <a:r>
              <a:rPr lang="en-IN"/>
              <a:t>GROUP BY PAYMENT_MODE;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579955-036E-DDED-23CF-EC41874DF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275" y="4639456"/>
            <a:ext cx="3606483" cy="117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827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7EF3BB-23F1-11AD-6782-10B8300C3F78}"/>
              </a:ext>
            </a:extLst>
          </p:cNvPr>
          <p:cNvSpPr txBox="1"/>
          <p:nvPr/>
        </p:nvSpPr>
        <p:spPr>
          <a:xfrm>
            <a:off x="335280" y="213360"/>
            <a:ext cx="6546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12. Find couriers whose weight is greater than average weight</a:t>
            </a:r>
            <a:endParaRPr lang="en-IN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3445F1-F741-2B18-DAD7-8438706E7B99}"/>
              </a:ext>
            </a:extLst>
          </p:cNvPr>
          <p:cNvSpPr txBox="1"/>
          <p:nvPr/>
        </p:nvSpPr>
        <p:spPr>
          <a:xfrm>
            <a:off x="335280" y="582692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SELECT COURIER_ID,</a:t>
            </a:r>
          </a:p>
          <a:p>
            <a:r>
              <a:rPr lang="en-IN"/>
              <a:t>       SOURCE,</a:t>
            </a:r>
          </a:p>
          <a:p>
            <a:r>
              <a:rPr lang="en-IN"/>
              <a:t>       DESTINATION,</a:t>
            </a:r>
          </a:p>
          <a:p>
            <a:r>
              <a:rPr lang="en-IN"/>
              <a:t>       WEIGHT</a:t>
            </a:r>
          </a:p>
          <a:p>
            <a:r>
              <a:rPr lang="en-IN"/>
              <a:t>FROM COURIER</a:t>
            </a:r>
          </a:p>
          <a:p>
            <a:r>
              <a:rPr lang="en-IN"/>
              <a:t>WHERE WEIGHT &gt; (</a:t>
            </a:r>
          </a:p>
          <a:p>
            <a:r>
              <a:rPr lang="en-IN"/>
              <a:t>    SELECT AVG(WEIGHT)</a:t>
            </a:r>
          </a:p>
          <a:p>
            <a:r>
              <a:rPr lang="en-IN"/>
              <a:t>    FROM COURIER</a:t>
            </a:r>
          </a:p>
          <a:p>
            <a:r>
              <a:rPr lang="en-IN"/>
              <a:t>);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CB605A-94EF-D6D4-1A16-1A70CD2A1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640" y="819092"/>
            <a:ext cx="3542873" cy="18174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BCF8DD-DA39-47F6-7497-D7E1A4544BC5}"/>
              </a:ext>
            </a:extLst>
          </p:cNvPr>
          <p:cNvSpPr txBox="1"/>
          <p:nvPr/>
        </p:nvSpPr>
        <p:spPr>
          <a:xfrm>
            <a:off x="7244560" y="213360"/>
            <a:ext cx="4859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13. Display courier and delivery agent details</a:t>
            </a:r>
            <a:endParaRPr lang="en-IN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2A5304-FB77-921F-D003-1E0A740C5FF1}"/>
              </a:ext>
            </a:extLst>
          </p:cNvPr>
          <p:cNvSpPr txBox="1"/>
          <p:nvPr/>
        </p:nvSpPr>
        <p:spPr>
          <a:xfrm>
            <a:off x="7244560" y="328195"/>
            <a:ext cx="5105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/>
          </a:p>
          <a:p>
            <a:r>
              <a:rPr lang="en-IN"/>
              <a:t>SELECT CR.COURIER_ID,</a:t>
            </a:r>
          </a:p>
          <a:p>
            <a:r>
              <a:rPr lang="en-IN"/>
              <a:t>       CR.DESTINATION,</a:t>
            </a:r>
          </a:p>
          <a:p>
            <a:r>
              <a:rPr lang="en-IN"/>
              <a:t>       A.NAME AS AGENT_NAME,</a:t>
            </a:r>
          </a:p>
          <a:p>
            <a:r>
              <a:rPr lang="en-IN"/>
              <a:t>       A.AREA</a:t>
            </a:r>
          </a:p>
          <a:p>
            <a:r>
              <a:rPr lang="en-IN"/>
              <a:t>FROM COURIER CR</a:t>
            </a:r>
          </a:p>
          <a:p>
            <a:r>
              <a:rPr lang="en-IN"/>
              <a:t>JOIN DELIVERY_AGENT A</a:t>
            </a:r>
          </a:p>
          <a:p>
            <a:r>
              <a:rPr lang="en-IN"/>
              <a:t>ON CR.AGENT_ID = A.AGENT_ID;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223DA65-3F75-3ECA-A22A-12BAA1186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37" y="2751354"/>
            <a:ext cx="4350894" cy="346656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C1F48C5-EEE3-4ACA-F3EC-9A4DA7108C6B}"/>
              </a:ext>
            </a:extLst>
          </p:cNvPr>
          <p:cNvSpPr txBox="1"/>
          <p:nvPr/>
        </p:nvSpPr>
        <p:spPr>
          <a:xfrm>
            <a:off x="238243" y="3296730"/>
            <a:ext cx="59481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14. Find delivery agents handling more than one courier</a:t>
            </a:r>
          </a:p>
          <a:p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50FB67-4EB2-946D-ECCF-34861FDE0D0A}"/>
              </a:ext>
            </a:extLst>
          </p:cNvPr>
          <p:cNvSpPr txBox="1"/>
          <p:nvPr/>
        </p:nvSpPr>
        <p:spPr>
          <a:xfrm>
            <a:off x="238243" y="3404415"/>
            <a:ext cx="5618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/>
          </a:p>
          <a:p>
            <a:r>
              <a:rPr lang="en-IN"/>
              <a:t>SELECT A.AGENT_ID,</a:t>
            </a:r>
          </a:p>
          <a:p>
            <a:r>
              <a:rPr lang="en-IN"/>
              <a:t>       A.NAME,</a:t>
            </a:r>
          </a:p>
          <a:p>
            <a:r>
              <a:rPr lang="en-IN"/>
              <a:t>       COUNT(CR.COURIER_ID) AS TOTAL_COURIERS</a:t>
            </a:r>
          </a:p>
          <a:p>
            <a:r>
              <a:rPr lang="en-IN"/>
              <a:t>FROM DELIVERY_AGENT A</a:t>
            </a:r>
          </a:p>
          <a:p>
            <a:r>
              <a:rPr lang="en-IN"/>
              <a:t>JOIN COURIER CR</a:t>
            </a:r>
          </a:p>
          <a:p>
            <a:r>
              <a:rPr lang="en-IN"/>
              <a:t>ON A.AGENT_ID = CR.AGENT_ID</a:t>
            </a:r>
          </a:p>
          <a:p>
            <a:r>
              <a:rPr lang="en-IN"/>
              <a:t>GROUP BY A.AGENT_ID, A.NAME</a:t>
            </a:r>
          </a:p>
          <a:p>
            <a:r>
              <a:rPr lang="en-IN"/>
              <a:t>HAVING COUNT(CR.COURIER_ID) &gt; 1;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ABFECF8-EF86-A60B-E8C3-F6A9F0DBB2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5070" y="4832942"/>
            <a:ext cx="2468670" cy="77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2131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AD2719E-66DC-FFC6-E5B6-5D1646C11696}"/>
              </a:ext>
            </a:extLst>
          </p:cNvPr>
          <p:cNvSpPr txBox="1"/>
          <p:nvPr/>
        </p:nvSpPr>
        <p:spPr>
          <a:xfrm>
            <a:off x="579120" y="428178"/>
            <a:ext cx="4464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15. Display complete courier information</a:t>
            </a:r>
            <a:endParaRPr lang="en-IN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CBFCC1-D081-BC3A-CB3E-922CDE9A1657}"/>
              </a:ext>
            </a:extLst>
          </p:cNvPr>
          <p:cNvSpPr txBox="1"/>
          <p:nvPr/>
        </p:nvSpPr>
        <p:spPr>
          <a:xfrm>
            <a:off x="701040" y="612844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/>
          </a:p>
          <a:p>
            <a:r>
              <a:rPr lang="en-IN"/>
              <a:t>SELECT C.NAME AS CUSTOMER_NAME,</a:t>
            </a:r>
          </a:p>
          <a:p>
            <a:r>
              <a:rPr lang="en-IN"/>
              <a:t>       CR.COURIER_ID,</a:t>
            </a:r>
          </a:p>
          <a:p>
            <a:r>
              <a:rPr lang="en-IN"/>
              <a:t>       CR.SOURCE,</a:t>
            </a:r>
          </a:p>
          <a:p>
            <a:r>
              <a:rPr lang="en-IN"/>
              <a:t>       CR.DESTINATION,</a:t>
            </a:r>
          </a:p>
          <a:p>
            <a:r>
              <a:rPr lang="en-IN"/>
              <a:t>       CR.WEIGHT,</a:t>
            </a:r>
          </a:p>
          <a:p>
            <a:r>
              <a:rPr lang="en-IN"/>
              <a:t>       A.NAME AS AGENT_NAME,</a:t>
            </a:r>
          </a:p>
          <a:p>
            <a:r>
              <a:rPr lang="en-IN"/>
              <a:t>       T.LOCATION,</a:t>
            </a:r>
          </a:p>
          <a:p>
            <a:r>
              <a:rPr lang="en-IN"/>
              <a:t>       T.STATUS,</a:t>
            </a:r>
          </a:p>
          <a:p>
            <a:r>
              <a:rPr lang="en-IN"/>
              <a:t>       P.AMOUNT,</a:t>
            </a:r>
          </a:p>
          <a:p>
            <a:r>
              <a:rPr lang="en-IN"/>
              <a:t>       P.PAYMENT_STATUS</a:t>
            </a:r>
          </a:p>
          <a:p>
            <a:r>
              <a:rPr lang="en-IN"/>
              <a:t>FROM CUSTOMER C</a:t>
            </a:r>
          </a:p>
          <a:p>
            <a:r>
              <a:rPr lang="en-IN"/>
              <a:t>JOIN COURIER CR</a:t>
            </a:r>
          </a:p>
          <a:p>
            <a:r>
              <a:rPr lang="en-IN"/>
              <a:t>ON C.CUSTOMER_ID = CR.CUSTOMER_ID</a:t>
            </a:r>
          </a:p>
          <a:p>
            <a:r>
              <a:rPr lang="en-IN"/>
              <a:t>JOIN DELIVERY_AGENT A</a:t>
            </a:r>
          </a:p>
          <a:p>
            <a:r>
              <a:rPr lang="en-IN"/>
              <a:t>ON CR.AGENT_ID = A.AGENT_ID</a:t>
            </a:r>
          </a:p>
          <a:p>
            <a:r>
              <a:rPr lang="en-IN"/>
              <a:t>JOIN TRACKING T</a:t>
            </a:r>
          </a:p>
          <a:p>
            <a:r>
              <a:rPr lang="en-IN"/>
              <a:t>ON CR.COURIER_ID = T.COURIER_ID</a:t>
            </a:r>
          </a:p>
          <a:p>
            <a:r>
              <a:rPr lang="en-IN"/>
              <a:t>JOIN PAYMENT P</a:t>
            </a:r>
          </a:p>
          <a:p>
            <a:r>
              <a:rPr lang="en-IN"/>
              <a:t>ON CR.COURIER_ID = P.COURIER_ID;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5D8C08-6876-875E-2EF4-D223432C7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537" y="1129004"/>
            <a:ext cx="7048629" cy="397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1559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4B9A67-1539-2B3E-D62E-83943CCE4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722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B58757-835C-5586-1AD2-0FC12A770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5668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E1E56D-5550-FCF9-B23A-CAFA51FC3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23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8576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13"/>
          <p:cNvSpPr txBox="1"/>
          <p:nvPr/>
        </p:nvSpPr>
        <p:spPr>
          <a:xfrm>
            <a:off x="4780000" y="665150"/>
            <a:ext cx="58794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163" name="Google Shape;1163;p13"/>
          <p:cNvSpPr txBox="1"/>
          <p:nvPr/>
        </p:nvSpPr>
        <p:spPr>
          <a:xfrm>
            <a:off x="2352093" y="1190450"/>
            <a:ext cx="7286427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The Courier Management System provides a simple DBMS-based solution for managing courier operations.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It integrates customer, courier, delivery, tracking and payment information in one database.</a:t>
            </a:r>
          </a:p>
          <a:p>
            <a:pPr>
              <a:spcBef>
                <a:spcPts val="800"/>
              </a:spcBef>
            </a:pPr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Authorized access improves security of customer and payment information.</a:t>
            </a:r>
          </a:p>
          <a:p>
            <a:pPr>
              <a:spcBef>
                <a:spcPts val="800"/>
              </a:spcBef>
            </a:pPr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SQL supports retrieval, insertion, deletion and modification of courier records.</a:t>
            </a:r>
            <a:endParaRPr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282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ER design clearly represents entities, keys, relationships and cardinalities.</a:t>
            </a:r>
            <a:endParaRPr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The project demonstrates practical DBMS concepts including relational design, SQL and data integrity.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Future work can include online notifications, route optimization and advanced reporting.</a:t>
            </a:r>
            <a:endParaRPr/>
          </a:p>
        </p:txBody>
      </p:sp>
      <p:sp>
        <p:nvSpPr>
          <p:cNvPr id="1164" name="Google Shape;1164;p13"/>
          <p:cNvSpPr txBox="1"/>
          <p:nvPr/>
        </p:nvSpPr>
        <p:spPr>
          <a:xfrm>
            <a:off x="320040" y="64008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F6368"/>
                </a:solidFill>
                <a:latin typeface="Calibri"/>
                <a:ea typeface="Calibri"/>
                <a:cs typeface="Calibri"/>
                <a:sym typeface="Calibri"/>
              </a:rPr>
              <a:t>DBMS Cornerstone Project  |  Courier Management System                                      13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864"/>
        </a:solidFill>
        <a:effectLst/>
      </p:bgPr>
    </p:bg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14"/>
          <p:cNvSpPr txBox="1"/>
          <p:nvPr/>
        </p:nvSpPr>
        <p:spPr>
          <a:xfrm>
            <a:off x="914400" y="2011680"/>
            <a:ext cx="10332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800</TotalTime>
  <Words>1474</Words>
  <Application>Microsoft Office PowerPoint</Application>
  <PresentationFormat>Widescreen</PresentationFormat>
  <Paragraphs>277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Book Antiqua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SIDDHU SRI</dc:creator>
  <cp:lastModifiedBy>SURESH NAIDU</cp:lastModifiedBy>
  <cp:revision>15</cp:revision>
  <dcterms:modified xsi:type="dcterms:W3CDTF">2026-10-08T15:52:16Z</dcterms:modified>
</cp:coreProperties>
</file>